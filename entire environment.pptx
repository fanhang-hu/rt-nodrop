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9" r:id="rId2"/>
    <p:sldId id="261" r:id="rId3"/>
    <p:sldId id="263" r:id="rId4"/>
    <p:sldId id="270" r:id="rId5"/>
    <p:sldId id="281" r:id="rId6"/>
    <p:sldId id="272" r:id="rId7"/>
    <p:sldId id="287" r:id="rId8"/>
    <p:sldId id="282" r:id="rId9"/>
    <p:sldId id="283" r:id="rId10"/>
    <p:sldId id="284" r:id="rId11"/>
    <p:sldId id="285" r:id="rId12"/>
    <p:sldId id="278" r:id="rId13"/>
    <p:sldId id="276" r:id="rId14"/>
    <p:sldId id="277" r:id="rId15"/>
    <p:sldId id="266" r:id="rId16"/>
    <p:sldId id="267" r:id="rId17"/>
    <p:sldId id="269" r:id="rId18"/>
    <p:sldId id="279" r:id="rId19"/>
    <p:sldId id="280" r:id="rId20"/>
    <p:sldId id="28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7D2B"/>
    <a:srgbClr val="B6C7EB"/>
    <a:srgbClr val="FFD966"/>
    <a:srgbClr val="63A23A"/>
    <a:srgbClr val="5991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33"/>
    <p:restoredTop sz="67588" autoAdjust="0"/>
  </p:normalViewPr>
  <p:slideViewPr>
    <p:cSldViewPr snapToGrid="0" snapToObjects="1">
      <p:cViewPr varScale="1">
        <p:scale>
          <a:sx n="74" d="100"/>
          <a:sy n="74" d="100"/>
        </p:scale>
        <p:origin x="2120"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85" d="100"/>
          <a:sy n="85" d="100"/>
        </p:scale>
        <p:origin x="2720"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356A7C-1AA1-5D4C-A752-54EC5C327AB8}" type="datetimeFigureOut">
              <a:rPr kumimoji="1" lang="zh-CN" altLang="en-US" smtClean="0"/>
              <a:t>2026/7/7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C80A3-2054-614E-BDEF-CCBE431BBF08}" type="slidenum">
              <a:rPr kumimoji="1" lang="zh-CN" altLang="en-US" smtClean="0"/>
              <a:t>‹#›</a:t>
            </a:fld>
            <a:endParaRPr kumimoji="1" lang="zh-CN" altLang="en-US"/>
          </a:p>
        </p:txBody>
      </p:sp>
    </p:spTree>
    <p:extLst>
      <p:ext uri="{BB962C8B-B14F-4D97-AF65-F5344CB8AC3E}">
        <p14:creationId xmlns:p14="http://schemas.microsoft.com/office/powerpoint/2010/main" val="3002930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Auditing framework</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is critical operating system security infrastructure for intrusion detection, provenance analysis, compliance verification, and attack reconstruction.</a:t>
            </a:r>
            <a:endParaRPr lang="en-US" altLang="zh-CN" dirty="0">
              <a:latin typeface="Times New Roman" panose="02020603050405020304" pitchFamily="18" charset="0"/>
              <a:ea typeface="MS PGothic" panose="020B0600070205080204" pitchFamily="34"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a typeface="MS PGothic" panose="020B060007020508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a typeface="MS PGothic" panose="020B0600070205080204" pitchFamily="34" charset="-128"/>
              </a:rPr>
              <a:t>There are multiple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Auditing frameworks </a:t>
            </a:r>
            <a:r>
              <a:rPr lang="en-US" altLang="zh-CN" dirty="0">
                <a:ea typeface="MS PGothic" panose="020B0600070205080204" pitchFamily="34" charset="-128"/>
              </a:rPr>
              <a:t>adopted in industry and academy such as </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Sysdig, OMNILOG, Ellipsis and Linux Audit.</a:t>
            </a:r>
            <a:endParaRPr lang="en-US" altLang="zh-CN" dirty="0">
              <a:ea typeface="MS PGothic" panose="020B0600070205080204" pitchFamily="34" charset="-128"/>
            </a:endParaRPr>
          </a:p>
          <a:p>
            <a:endParaRPr kumimoji="1" lang="zh-CN" altLang="en-US"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a:t>
            </a:fld>
            <a:endParaRPr kumimoji="1" lang="zh-CN" altLang="en-US"/>
          </a:p>
        </p:txBody>
      </p:sp>
    </p:spTree>
    <p:extLst>
      <p:ext uri="{BB962C8B-B14F-4D97-AF65-F5344CB8AC3E}">
        <p14:creationId xmlns:p14="http://schemas.microsoft.com/office/powerpoint/2010/main" val="1747862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This figure shows several </a:t>
            </a:r>
            <a:r>
              <a:rPr lang="en-US" altLang="zh-CN" sz="1800" dirty="0">
                <a:effectLst/>
                <a:latin typeface="NimbusRomNo9L"/>
              </a:rPr>
              <a:t>representative</a:t>
            </a:r>
            <a:r>
              <a:rPr kumimoji="1" lang="en-US" altLang="zh-CN" dirty="0"/>
              <a:t> </a:t>
            </a:r>
            <a:r>
              <a:rPr kumimoji="1" lang="en-US" altLang="zh-CN" sz="1800" dirty="0">
                <a:effectLst/>
                <a:latin typeface="NimbusRomNo9L"/>
              </a:rPr>
              <a:t>a</a:t>
            </a:r>
            <a:r>
              <a:rPr lang="en-US" altLang="zh-CN" sz="1800" dirty="0">
                <a:effectLst/>
                <a:latin typeface="NimbusRomNo9L"/>
              </a:rPr>
              <a:t>rchitectures of different system auditing frameworks, including </a:t>
            </a:r>
            <a:r>
              <a:rPr lang="en-US" altLang="zh-CN" sz="1800" dirty="0" err="1">
                <a:effectLst/>
                <a:latin typeface="NimbusRomNo9L"/>
              </a:rPr>
              <a:t>Sysdig</a:t>
            </a:r>
            <a:r>
              <a:rPr lang="en-US" altLang="zh-CN" sz="1800" dirty="0">
                <a:effectLst/>
                <a:latin typeface="NimbusRomNo9L"/>
              </a:rPr>
              <a:t>, Linux </a:t>
            </a:r>
            <a:r>
              <a:rPr lang="en-US" altLang="zh-CN" sz="1800" dirty="0" err="1">
                <a:effectLst/>
                <a:latin typeface="NimbusRomNo9L"/>
              </a:rPr>
              <a:t>Auditd</a:t>
            </a:r>
            <a:r>
              <a:rPr lang="en-US" altLang="zh-CN" sz="1800" dirty="0">
                <a:effectLst/>
                <a:latin typeface="NimbusRomNo9L"/>
              </a:rPr>
              <a:t>, OMNILOG and NODROP. Where </a:t>
            </a:r>
            <a:r>
              <a:rPr lang="en-US" altLang="zh-CN" sz="1200" dirty="0" err="1">
                <a:effectLst/>
                <a:latin typeface="NimbusRomNo9L"/>
              </a:rPr>
              <a:t>Sysdig</a:t>
            </a:r>
            <a:r>
              <a:rPr lang="en-US" altLang="zh-CN" sz="1200" dirty="0">
                <a:effectLst/>
                <a:latin typeface="NimbusRomNo9L"/>
              </a:rPr>
              <a:t> and Linux </a:t>
            </a:r>
            <a:r>
              <a:rPr lang="en-US" altLang="zh-CN" sz="1200" dirty="0" err="1">
                <a:effectLst/>
                <a:latin typeface="NimbusRomNo9L"/>
              </a:rPr>
              <a:t>Auditd</a:t>
            </a:r>
            <a:r>
              <a:rPr lang="en-US" altLang="zh-CN" sz="1200" dirty="0">
                <a:effectLst/>
                <a:latin typeface="NimbusRomNo9L"/>
              </a:rPr>
              <a:t> are commonly used commercial products and OMNILOG and NODROP are academia researches.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latin typeface="NimbusRomNo9L"/>
            </a:endParaRPr>
          </a:p>
          <a:p>
            <a:r>
              <a:rPr lang="en-US" altLang="zh-CN" sz="1200" b="1" i="0" kern="1200" dirty="0">
                <a:solidFill>
                  <a:schemeClr val="tx1"/>
                </a:solidFill>
                <a:effectLst/>
                <a:latin typeface="+mn-lt"/>
                <a:ea typeface="+mn-ea"/>
                <a:cs typeface="+mn-cs"/>
              </a:rPr>
              <a:t>The typical auditing framework, take </a:t>
            </a:r>
            <a:r>
              <a:rPr lang="en-US" altLang="zh-CN" sz="1200" b="1" i="0" kern="1200" dirty="0" err="1">
                <a:solidFill>
                  <a:schemeClr val="tx1"/>
                </a:solidFill>
                <a:effectLst/>
                <a:latin typeface="+mn-lt"/>
                <a:ea typeface="+mn-ea"/>
                <a:cs typeface="+mn-cs"/>
              </a:rPr>
              <a:t>Sysdig</a:t>
            </a:r>
            <a:r>
              <a:rPr lang="en-US" altLang="zh-CN" sz="1200" b="1" i="0" kern="1200" dirty="0">
                <a:solidFill>
                  <a:schemeClr val="tx1"/>
                </a:solidFill>
                <a:effectLst/>
                <a:latin typeface="+mn-lt"/>
                <a:ea typeface="+mn-ea"/>
                <a:cs typeface="+mn-cs"/>
              </a:rPr>
              <a:t> for example, employs a classic asynchronous auditing architecture</a:t>
            </a:r>
            <a:r>
              <a:rPr lang="en-US" altLang="zh-CN" sz="1200" b="0" i="0" kern="1200" dirty="0">
                <a:solidFill>
                  <a:schemeClr val="tx1"/>
                </a:solidFill>
                <a:effectLst/>
                <a:latin typeface="+mn-lt"/>
                <a:ea typeface="+mn-ea"/>
                <a:cs typeface="+mn-cs"/>
              </a:rPr>
              <a:t>: a kernel module intercepts </a:t>
            </a:r>
            <a:r>
              <a:rPr lang="en-US" altLang="zh-CN" sz="1200" b="0" i="0" kern="1200" dirty="0" err="1">
                <a:solidFill>
                  <a:schemeClr val="tx1"/>
                </a:solidFill>
                <a:effectLst/>
                <a:latin typeface="+mn-lt"/>
                <a:ea typeface="+mn-ea"/>
                <a:cs typeface="+mn-cs"/>
              </a:rPr>
              <a:t>syscall</a:t>
            </a:r>
            <a:r>
              <a:rPr lang="en-US" altLang="zh-CN" sz="1200" b="0" i="0" kern="1200" dirty="0">
                <a:solidFill>
                  <a:schemeClr val="tx1"/>
                </a:solidFill>
                <a:effectLst/>
                <a:latin typeface="+mn-lt"/>
                <a:ea typeface="+mn-ea"/>
                <a:cs typeface="+mn-cs"/>
              </a:rPr>
              <a:t> events and stores them in a kernel buffer, while an independent user-space daemon asynchronously reads and processes them.</a:t>
            </a:r>
            <a:endParaRPr kumimoji="1" lang="zh-CN" altLang="en-US"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2</a:t>
            </a:fld>
            <a:endParaRPr kumimoji="1" lang="zh-CN" altLang="en-US"/>
          </a:p>
        </p:txBody>
      </p:sp>
    </p:spTree>
    <p:extLst>
      <p:ext uri="{BB962C8B-B14F-4D97-AF65-F5344CB8AC3E}">
        <p14:creationId xmlns:p14="http://schemas.microsoft.com/office/powerpoint/2010/main" val="3759565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Attackers have noticed the value of audit events and try to compromise this system auditing to conceal their malicious activities.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dirty="0"/>
              <a:t>There are </a:t>
            </a:r>
            <a:r>
              <a:rPr lang="en-US" altLang="zh-CN" sz="1800" dirty="0">
                <a:effectLst/>
                <a:latin typeface="NimbusRomNo9L"/>
              </a:rPr>
              <a:t>two common attacks —— race condition attack and flood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The first on is </a:t>
            </a:r>
            <a:r>
              <a:rPr lang="en-US" altLang="zh-CN" sz="1200" dirty="0">
                <a:effectLst/>
                <a:latin typeface="NimbusRomNo9L"/>
              </a:rPr>
              <a:t>race condition attack: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An attack can delete audit events generated by malicious processes from the kernel buffers before they have been submitted to the consumer (based on the observation that the events will reside in the buffer for more than 10ms).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second on is flood attack: An attacker can quickly generate a large number of invalid system logs, crowd the log buffer, and cause the subsequent attack log loss. (Also taken as PDoS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3</a:t>
            </a:fld>
            <a:endParaRPr kumimoji="1" lang="zh-CN" altLang="en-US"/>
          </a:p>
        </p:txBody>
      </p:sp>
    </p:spTree>
    <p:extLst>
      <p:ext uri="{BB962C8B-B14F-4D97-AF65-F5344CB8AC3E}">
        <p14:creationId xmlns:p14="http://schemas.microsoft.com/office/powerpoint/2010/main" val="2913105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err="1">
                <a:solidFill>
                  <a:schemeClr val="tx1"/>
                </a:solidFill>
                <a:effectLst/>
                <a:latin typeface="+mn-lt"/>
                <a:ea typeface="+mn-ea"/>
                <a:cs typeface="+mn-cs"/>
              </a:rPr>
              <a:t>Sysdig</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Linux </a:t>
            </a:r>
            <a:r>
              <a:rPr lang="en-US" altLang="zh-CN" sz="1200" b="1" i="0" kern="1200" dirty="0" err="1">
                <a:solidFill>
                  <a:schemeClr val="tx1"/>
                </a:solidFill>
                <a:effectLst/>
                <a:latin typeface="+mn-lt"/>
                <a:ea typeface="+mn-ea"/>
                <a:cs typeface="+mn-cs"/>
              </a:rPr>
              <a:t>Auditd</a:t>
            </a:r>
            <a:r>
              <a:rPr lang="en-US" altLang="zh-CN" sz="1200" b="0" i="0" kern="1200" dirty="0">
                <a:solidFill>
                  <a:schemeClr val="tx1"/>
                </a:solidFill>
                <a:effectLst/>
                <a:latin typeface="+mn-lt"/>
                <a:ea typeface="+mn-ea"/>
                <a:cs typeface="+mn-cs"/>
              </a:rPr>
              <a:t> and Ellipsis faces both race condition attack and flood attack. They employ an asynchronous, single-consumer architecture that processes audit events from all tasks in user space, ,leading to potential priority inversion and event loss under heavy loads.</a:t>
            </a:r>
            <a:endParaRPr kumimoji="1" lang="en-US" altLang="zh-CN" dirty="0"/>
          </a:p>
          <a:p>
            <a:endParaRPr kumimoji="1" lang="en-US" altLang="zh-CN" dirty="0"/>
          </a:p>
          <a:p>
            <a:r>
              <a:rPr kumimoji="1" lang="en-US" altLang="zh-CN" dirty="0"/>
              <a:t>OMNILOG and NODROP focus on addressing race condition attack and flood attack respectively. However, they also have weaknesses.</a:t>
            </a:r>
          </a:p>
          <a:p>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OMNILOG</a:t>
            </a:r>
            <a:r>
              <a:rPr lang="en-US" altLang="zh-CN" sz="1200" b="0" i="0" kern="1200" dirty="0">
                <a:solidFill>
                  <a:schemeClr val="tx1"/>
                </a:solidFill>
                <a:effectLst/>
                <a:latin typeface="+mn-lt"/>
                <a:ea typeface="+mn-ea"/>
                <a:cs typeface="+mn-cs"/>
              </a:rPr>
              <a:t> adopts a synchronous, hypervisor-based architecture where each </a:t>
            </a:r>
            <a:r>
              <a:rPr lang="en-US" altLang="zh-CN" sz="1200" b="0" i="0" kern="1200" dirty="0" err="1">
                <a:solidFill>
                  <a:schemeClr val="tx1"/>
                </a:solidFill>
                <a:effectLst/>
                <a:latin typeface="+mn-lt"/>
                <a:ea typeface="+mn-ea"/>
                <a:cs typeface="+mn-cs"/>
              </a:rPr>
              <a:t>syscall</a:t>
            </a:r>
            <a:r>
              <a:rPr lang="en-US" altLang="zh-CN" sz="1200" b="0" i="0" kern="1200" dirty="0">
                <a:solidFill>
                  <a:schemeClr val="tx1"/>
                </a:solidFill>
                <a:effectLst/>
                <a:latin typeface="+mn-lt"/>
                <a:ea typeface="+mn-ea"/>
                <a:cs typeface="+mn-cs"/>
              </a:rPr>
              <a:t> triggers an immediate </a:t>
            </a:r>
            <a:r>
              <a:rPr lang="en-US" altLang="zh-CN" sz="1200" b="0" i="0" kern="1200" dirty="0" err="1">
                <a:solidFill>
                  <a:schemeClr val="tx1"/>
                </a:solidFill>
                <a:effectLst/>
                <a:latin typeface="+mn-lt"/>
                <a:ea typeface="+mn-ea"/>
                <a:cs typeface="+mn-cs"/>
              </a:rPr>
              <a:t>hypercall</a:t>
            </a:r>
            <a:r>
              <a:rPr lang="en-US" altLang="zh-CN" sz="1200" b="0" i="0" kern="1200" dirty="0">
                <a:solidFill>
                  <a:schemeClr val="tx1"/>
                </a:solidFill>
                <a:effectLst/>
                <a:latin typeface="+mn-lt"/>
                <a:ea typeface="+mn-ea"/>
                <a:cs typeface="+mn-cs"/>
              </a:rPr>
              <a:t> to transfer events into a secure buffer, ensuring near-zero residence time but introducing high virtualization overhead.</a:t>
            </a: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NODROP</a:t>
            </a:r>
            <a:r>
              <a:rPr lang="en-US" altLang="zh-CN" sz="1200" b="0" i="0" kern="1200" dirty="0">
                <a:solidFill>
                  <a:schemeClr val="tx1"/>
                </a:solidFill>
                <a:effectLst/>
                <a:latin typeface="+mn-lt"/>
                <a:ea typeface="+mn-ea"/>
                <a:cs typeface="+mn-cs"/>
              </a:rPr>
              <a:t> introduces a per-thread consumer model where each thread's events are handled by a dedicated, lightweight </a:t>
            </a:r>
            <a:r>
              <a:rPr lang="en-US" altLang="zh-CN" sz="1200" b="0" i="0" kern="1200" dirty="0" err="1">
                <a:solidFill>
                  <a:schemeClr val="tx1"/>
                </a:solidFill>
                <a:effectLst/>
                <a:latin typeface="+mn-lt"/>
                <a:ea typeface="+mn-ea"/>
                <a:cs typeface="+mn-cs"/>
              </a:rPr>
              <a:t>threadlet</a:t>
            </a:r>
            <a:r>
              <a:rPr lang="en-US" altLang="zh-CN" sz="1200" b="0" i="0" kern="1200" dirty="0">
                <a:solidFill>
                  <a:schemeClr val="tx1"/>
                </a:solidFill>
                <a:effectLst/>
                <a:latin typeface="+mn-lt"/>
                <a:ea typeface="+mn-ea"/>
                <a:cs typeface="+mn-cs"/>
              </a:rPr>
              <a:t> within its own address space, preventing event loss but allowing unbounded residence time due to batch processing  and </a:t>
            </a:r>
            <a:r>
              <a:rPr kumimoji="1" lang="en-US" altLang="zh-CN" sz="1200" b="0" i="0" kern="1200" dirty="0">
                <a:solidFill>
                  <a:schemeClr val="tx1"/>
                </a:solidFill>
                <a:effectLst/>
                <a:latin typeface="Times New Roman" panose="02020603050405020304" pitchFamily="18" charset="0"/>
                <a:ea typeface="+mn-ea"/>
                <a:cs typeface="Times New Roman" panose="02020603050405020304" pitchFamily="18" charset="0"/>
              </a:rPr>
              <a:t>increased</a:t>
            </a:r>
            <a:r>
              <a:rPr kumimoji="1" lang="en-US" altLang="zh-CN" sz="1200" dirty="0">
                <a:solidFill>
                  <a:schemeClr val="tx1"/>
                </a:solidFill>
                <a:latin typeface="Times New Roman" panose="02020603050405020304" pitchFamily="18" charset="0"/>
                <a:cs typeface="Times New Roman" panose="02020603050405020304" pitchFamily="18" charset="0"/>
              </a:rPr>
              <a:t> consumer interference</a:t>
            </a: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4</a:t>
            </a:fld>
            <a:endParaRPr kumimoji="1" lang="zh-CN" altLang="en-US"/>
          </a:p>
        </p:txBody>
      </p:sp>
    </p:spTree>
    <p:extLst>
      <p:ext uri="{BB962C8B-B14F-4D97-AF65-F5344CB8AC3E}">
        <p14:creationId xmlns:p14="http://schemas.microsoft.com/office/powerpoint/2010/main" val="2157396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solidFill>
                  <a:schemeClr val="tx1"/>
                </a:solidFill>
                <a:latin typeface="Times New Roman" panose="02020603050405020304" pitchFamily="18" charset="0"/>
                <a:cs typeface="Times New Roman" panose="02020603050405020304" pitchFamily="18" charset="0"/>
              </a:rPr>
              <a:t>Therefore, for Real-time system, it’s essential for creating a safe, predictable and efficient Auditing Framework</a:t>
            </a:r>
            <a:r>
              <a:rPr kumimoji="1" lang="zh-CN" altLang="en-US" sz="1200" dirty="0">
                <a:solidFill>
                  <a:schemeClr val="tx1"/>
                </a:solidFill>
                <a:latin typeface="Times New Roman" panose="02020603050405020304" pitchFamily="18" charset="0"/>
                <a:cs typeface="Times New Roman" panose="02020603050405020304" pitchFamily="18" charset="0"/>
              </a:rPr>
              <a:t> </a:t>
            </a:r>
            <a:r>
              <a:rPr kumimoji="1" lang="en-US" altLang="zh-CN" sz="1200" dirty="0">
                <a:solidFill>
                  <a:schemeClr val="tx1"/>
                </a:solidFill>
                <a:latin typeface="Times New Roman" panose="02020603050405020304" pitchFamily="18" charset="0"/>
                <a:cs typeface="Times New Roman" panose="02020603050405020304" pitchFamily="18" charset="0"/>
              </a:rPr>
              <a:t>to guarantee</a:t>
            </a:r>
            <a:r>
              <a:rPr kumimoji="1" lang="zh-CN" altLang="en-US" sz="1200" dirty="0">
                <a:solidFill>
                  <a:schemeClr val="tx1"/>
                </a:solidFill>
                <a:latin typeface="Times New Roman" panose="02020603050405020304" pitchFamily="18" charset="0"/>
                <a:cs typeface="Times New Roman" panose="02020603050405020304" pitchFamily="18" charset="0"/>
              </a:rPr>
              <a:t> </a:t>
            </a:r>
            <a:r>
              <a:rPr kumimoji="1" lang="en-US" altLang="zh-CN" sz="1200" dirty="0">
                <a:solidFill>
                  <a:schemeClr val="tx1"/>
                </a:solidFill>
                <a:latin typeface="Times New Roman" panose="02020603050405020304" pitchFamily="18" charset="0"/>
                <a:cs typeface="Times New Roman" panose="02020603050405020304" pitchFamily="18" charset="0"/>
              </a:rPr>
              <a:t>Real-Time application performance.</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5</a:t>
            </a:fld>
            <a:endParaRPr kumimoji="1" lang="zh-CN" altLang="en-US"/>
          </a:p>
        </p:txBody>
      </p:sp>
    </p:spTree>
    <p:extLst>
      <p:ext uri="{BB962C8B-B14F-4D97-AF65-F5344CB8AC3E}">
        <p14:creationId xmlns:p14="http://schemas.microsoft.com/office/powerpoint/2010/main" val="795907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Our goal in creating the real-time auditing framework includes:</a:t>
            </a:r>
            <a:br>
              <a:rPr kumimoji="1" lang="en-US" altLang="zh-CN" dirty="0"/>
            </a:b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b="1" dirty="0"/>
              <a:t>Event integrity</a:t>
            </a:r>
            <a:r>
              <a:rPr kumimoji="1" lang="en-US" altLang="zh-CN" b="0" dirty="0"/>
              <a:t>:</a:t>
            </a:r>
            <a:r>
              <a:rPr lang="en-US" altLang="zh-CN" sz="1800" dirty="0">
                <a:effectLst/>
                <a:latin typeface="NimbusRomNo9L"/>
              </a:rPr>
              <a:t> all audit events must be collected and processed on time without loss.</a:t>
            </a:r>
            <a:endParaRPr lang="en-US" altLang="zh-CN" dirty="0"/>
          </a:p>
          <a:p>
            <a:endParaRPr kumimoji="1"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b="1" dirty="0"/>
              <a:t>Bounded event residence time</a:t>
            </a:r>
            <a:r>
              <a:rPr lang="en-US" altLang="zh-CN" sz="1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dirty="0">
                <a:solidFill>
                  <a:schemeClr val="tx1"/>
                </a:solidFill>
                <a:effectLst/>
                <a:latin typeface="NimbusRomNo9L"/>
                <a:ea typeface="微软雅黑" panose="020B0503020204020204" pitchFamily="34" charset="-122"/>
                <a:cs typeface="Times New Roman" panose="02020603050405020304" pitchFamily="18" charset="0"/>
              </a:rPr>
              <a:t>t</a:t>
            </a:r>
            <a:r>
              <a:rPr lang="en-US" altLang="zh-CN" sz="1800" dirty="0">
                <a:effectLst/>
                <a:latin typeface="NimbusRomNo9L"/>
              </a:rPr>
              <a:t>he duration of events that reside in the insecure kernel buffer should be bounded.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                           Furthermore, administrators can flexibly control the duration depending on task criticality or sensitivity.</a:t>
            </a:r>
            <a:endParaRPr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Guaranteed </a:t>
            </a:r>
            <a:r>
              <a:rPr lang="en-US" altLang="zh-CN" sz="1200"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schedulability</a:t>
            </a:r>
            <a:r>
              <a:rPr kumimoji="1" lang="en-US" altLang="zh-CN" dirty="0"/>
              <a:t>: </a:t>
            </a:r>
            <a:r>
              <a:rPr kumimoji="1" lang="en-US" altLang="zh-CN" sz="1800" dirty="0">
                <a:effectLst/>
                <a:latin typeface="NimbusRomNo9L"/>
              </a:rPr>
              <a:t>t</a:t>
            </a:r>
            <a:r>
              <a:rPr lang="en-US" altLang="zh-CN" sz="1800" dirty="0">
                <a:effectLst/>
                <a:latin typeface="NimbusRomNo9L"/>
              </a:rPr>
              <a:t>he execution and interference of the auditing framework should be bounded and can be adapted to response time analysis to evaluate system schedulability.</a:t>
            </a:r>
            <a:endParaRPr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and </a:t>
            </a:r>
            <a:r>
              <a:rPr kumimoji="1" lang="en-US" altLang="zh-CN" b="1" dirty="0"/>
              <a:t>minimized overhead</a:t>
            </a:r>
            <a:r>
              <a:rPr kumimoji="1" lang="en-US" altLang="zh-CN" dirty="0"/>
              <a:t>: </a:t>
            </a:r>
            <a:r>
              <a:rPr kumimoji="1" lang="en-US" altLang="zh-CN" sz="1800" dirty="0">
                <a:effectLst/>
                <a:latin typeface="NimbusRomNo9L"/>
              </a:rPr>
              <a:t>t</a:t>
            </a:r>
            <a:r>
              <a:rPr lang="en-US" altLang="zh-CN" sz="1800" dirty="0">
                <a:effectLst/>
                <a:latin typeface="NimbusRomNo9L"/>
              </a:rPr>
              <a:t>he auditing framework should not occupy too many system resources that significantly slow down the whole system even under high-frequency event generation in multi-core environments.</a:t>
            </a:r>
            <a:endParaRPr lang="en-US" altLang="zh-CN"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6</a:t>
            </a:fld>
            <a:endParaRPr kumimoji="1" lang="zh-CN" altLang="en-US"/>
          </a:p>
        </p:txBody>
      </p:sp>
    </p:spTree>
    <p:extLst>
      <p:ext uri="{BB962C8B-B14F-4D97-AF65-F5344CB8AC3E}">
        <p14:creationId xmlns:p14="http://schemas.microsoft.com/office/powerpoint/2010/main" val="517795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C702-7BC9-B4A8-C8C0-6F73F59AE3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B5D488-FC05-BB77-EA90-610DED270E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AE6C19-C2D5-4E28-7135-72F0883D6E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To match the above goals, we introduce a real-time system auditing framework, </a:t>
            </a:r>
            <a:r>
              <a:rPr lang="en-US" altLang="zh-CN" sz="1800" dirty="0">
                <a:effectLst/>
                <a:latin typeface="NimbusSanL"/>
              </a:rPr>
              <a:t>RT-NODROP</a:t>
            </a:r>
            <a:r>
              <a:rPr lang="en-US" altLang="zh-CN" sz="1800" dirty="0">
                <a:effectLst/>
                <a:latin typeface="NimbusRomNo9L"/>
              </a:rPr>
              <a:t>, that is predictable, secure, and efficient.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RT-NODROP is a variant of NODROP designed to provide efficient consumer execution and guarantee event integrity.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Here is the workflow of NODROP.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r>
              <a:rPr lang="en-US" altLang="zh-CN" sz="1800" dirty="0" err="1">
                <a:ea typeface="MS PGothic" panose="020B0600070205080204" pitchFamily="34" charset="-128"/>
              </a:rPr>
              <a:t>Nodrop</a:t>
            </a:r>
            <a:r>
              <a:rPr lang="en-US" altLang="zh-CN" sz="1800" dirty="0">
                <a:ea typeface="MS PGothic" panose="020B0600070205080204" pitchFamily="34" charset="-128"/>
              </a:rPr>
              <a:t> has five stages. </a:t>
            </a:r>
          </a:p>
          <a:p>
            <a:r>
              <a:rPr lang="en-US" altLang="zh-CN" sz="1800" b="1" dirty="0">
                <a:latin typeface="Times New Roman" panose="02020603050405020304" pitchFamily="18" charset="0"/>
                <a:cs typeface="Times New Roman" panose="02020603050405020304" pitchFamily="18" charset="0"/>
              </a:rPr>
              <a:t>S1</a:t>
            </a:r>
            <a:r>
              <a:rPr lang="en-US" altLang="zh-CN" sz="1800" dirty="0">
                <a:latin typeface="Times New Roman" panose="02020603050405020304" pitchFamily="18" charset="0"/>
                <a:cs typeface="Times New Roman" panose="02020603050405020304" pitchFamily="18" charset="0"/>
              </a:rPr>
              <a:t>: The kernel captures a system call (</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 and executes it (</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 The kernel module then catches and records the system call in a </a:t>
            </a:r>
            <a:r>
              <a:rPr lang="en-US" altLang="zh-CN" sz="1800" b="1" dirty="0">
                <a:latin typeface="Times New Roman" panose="02020603050405020304" pitchFamily="18" charset="0"/>
                <a:cs typeface="Times New Roman" panose="02020603050405020304" pitchFamily="18" charset="0"/>
              </a:rPr>
              <a:t>dedicated in-kernel logging buffer </a:t>
            </a:r>
            <a:r>
              <a:rPr lang="en-US"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a:t>
            </a:r>
          </a:p>
          <a:p>
            <a:pPr marL="0" indent="0">
              <a:lnSpc>
                <a:spcPct val="120000"/>
              </a:lnSpc>
              <a:buNone/>
            </a:pPr>
            <a:r>
              <a:rPr lang="en-US" altLang="zh-CN" sz="1800" b="1" dirty="0">
                <a:latin typeface="Times New Roman" panose="02020603050405020304" pitchFamily="18" charset="0"/>
                <a:cs typeface="Times New Roman" panose="02020603050405020304" pitchFamily="18" charset="0"/>
              </a:rPr>
              <a:t>S2</a:t>
            </a:r>
            <a:r>
              <a:rPr lang="en-US" altLang="zh-CN" sz="1800" dirty="0">
                <a:latin typeface="Times New Roman" panose="02020603050405020304" pitchFamily="18" charset="0"/>
                <a:cs typeface="Times New Roman" panose="02020603050405020304" pitchFamily="18" charset="0"/>
              </a:rPr>
              <a:t>: We check the status of the buffer. Buffer is not full: returns control to the host thread (</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 Buffer is full or the thread exits: control is passed to the consumer (</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a:t>
            </a:r>
          </a:p>
          <a:p>
            <a:pPr marL="0" indent="0">
              <a:lnSpc>
                <a:spcPct val="120000"/>
              </a:lnSpc>
              <a:buNone/>
            </a:pPr>
            <a:r>
              <a:rPr lang="en-US" altLang="zh-CN" sz="1800" b="1" dirty="0">
                <a:latin typeface="Times New Roman" panose="02020603050405020304" pitchFamily="18" charset="0"/>
                <a:cs typeface="Times New Roman" panose="02020603050405020304" pitchFamily="18" charset="0"/>
              </a:rPr>
              <a:t>S3</a:t>
            </a:r>
            <a:r>
              <a:rPr lang="en-US" altLang="zh-CN" sz="1800" dirty="0">
                <a:latin typeface="Times New Roman" panose="02020603050405020304" pitchFamily="18" charset="0"/>
                <a:cs typeface="Times New Roman" panose="02020603050405020304" pitchFamily="18" charset="0"/>
              </a:rPr>
              <a:t>: If the consumer is not in the memory of running thread. It instruments the consumer into the current running thread(</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 only in the first time.</a:t>
            </a:r>
          </a:p>
          <a:p>
            <a:pPr marL="0" indent="0">
              <a:lnSpc>
                <a:spcPct val="120000"/>
              </a:lnSpc>
              <a:buNone/>
            </a:pPr>
            <a:r>
              <a:rPr lang="en-US" altLang="zh-CN" sz="1800" b="1" dirty="0">
                <a:latin typeface="Times New Roman" panose="02020603050405020304" pitchFamily="18" charset="0"/>
                <a:cs typeface="Times New Roman" panose="02020603050405020304" pitchFamily="18" charset="0"/>
              </a:rPr>
              <a:t>S4</a:t>
            </a:r>
            <a:r>
              <a:rPr lang="en-US" altLang="zh-CN" sz="1800" dirty="0">
                <a:latin typeface="Times New Roman" panose="02020603050405020304" pitchFamily="18" charset="0"/>
                <a:cs typeface="Times New Roman" panose="02020603050405020304" pitchFamily="18" charset="0"/>
              </a:rPr>
              <a:t>: Consumer uses the running thread’s resource quota to process the transferred provenance data (</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 </a:t>
            </a:r>
          </a:p>
          <a:p>
            <a:pPr marL="0" indent="0">
              <a:lnSpc>
                <a:spcPct val="120000"/>
              </a:lnSpc>
              <a:buNone/>
            </a:pPr>
            <a:r>
              <a:rPr lang="en-US" altLang="zh-CN" sz="1800" b="1" dirty="0">
                <a:latin typeface="Times New Roman" panose="02020603050405020304" pitchFamily="18" charset="0"/>
                <a:cs typeface="Times New Roman" panose="02020603050405020304" pitchFamily="18" charset="0"/>
              </a:rPr>
              <a:t>S5: </a:t>
            </a:r>
            <a:r>
              <a:rPr lang="en-US" altLang="zh-CN" sz="1800" dirty="0">
                <a:latin typeface="Times New Roman" panose="02020603050405020304" pitchFamily="18" charset="0"/>
                <a:cs typeface="Times New Roman" panose="02020603050405020304" pitchFamily="18" charset="0"/>
              </a:rPr>
              <a:t>When processing is complete, control is returned to the original thread (</a:t>
            </a:r>
            <a:r>
              <a:rPr lang="en-US" altLang="zh-CN"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800" dirty="0">
                <a:latin typeface="Times New Roman" panose="02020603050405020304" pitchFamily="18" charset="0"/>
                <a:cs typeface="Times New Roman" panose="02020603050405020304" pitchFamily="18" charset="0"/>
              </a:rPr>
              <a:t>).</a:t>
            </a:r>
          </a:p>
          <a:p>
            <a:endParaRPr lang="en-US" altLang="en-US" sz="1800" dirty="0">
              <a:ea typeface="MS PGothic" panose="020B060007020508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p:txBody>
      </p:sp>
      <p:sp>
        <p:nvSpPr>
          <p:cNvPr id="4" name="灯片编号占位符 3">
            <a:extLst>
              <a:ext uri="{FF2B5EF4-FFF2-40B4-BE49-F238E27FC236}">
                <a16:creationId xmlns:a16="http://schemas.microsoft.com/office/drawing/2014/main" id="{8424AB1D-DA47-CBCC-C49F-ADA933A9F9C6}"/>
              </a:ext>
            </a:extLst>
          </p:cNvPr>
          <p:cNvSpPr>
            <a:spLocks noGrp="1"/>
          </p:cNvSpPr>
          <p:nvPr>
            <p:ph type="sldNum" sz="quarter" idx="5"/>
          </p:nvPr>
        </p:nvSpPr>
        <p:spPr/>
        <p:txBody>
          <a:bodyPr/>
          <a:lstStyle/>
          <a:p>
            <a:fld id="{892C80A3-2054-614E-BDEF-CCBE431BBF08}" type="slidenum">
              <a:rPr kumimoji="1" lang="zh-CN" altLang="en-US" smtClean="0"/>
              <a:t>7</a:t>
            </a:fld>
            <a:endParaRPr kumimoji="1" lang="zh-CN" altLang="en-US"/>
          </a:p>
        </p:txBody>
      </p:sp>
    </p:spTree>
    <p:extLst>
      <p:ext uri="{BB962C8B-B14F-4D97-AF65-F5344CB8AC3E}">
        <p14:creationId xmlns:p14="http://schemas.microsoft.com/office/powerpoint/2010/main" val="4086645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Concretely, </a:t>
            </a:r>
            <a:r>
              <a:rPr lang="en-US" altLang="zh-CN" sz="1800" dirty="0">
                <a:effectLst/>
                <a:latin typeface="NimbusSanL"/>
              </a:rPr>
              <a:t>RT-NODROP </a:t>
            </a:r>
            <a:r>
              <a:rPr lang="en-US" altLang="zh-CN" sz="1800" dirty="0">
                <a:effectLst/>
                <a:latin typeface="NimbusRomNo9L"/>
              </a:rPr>
              <a:t>introduces the following optimizations to improve NODROP.</a:t>
            </a:r>
            <a:endParaRPr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b="1" dirty="0"/>
              <a:t>First of all, </a:t>
            </a:r>
            <a:r>
              <a:rPr kumimoji="1" lang="en-US" altLang="zh-CN" sz="1200" b="1" dirty="0">
                <a:solidFill>
                  <a:schemeClr val="tx1"/>
                </a:solidFill>
                <a:latin typeface="Times New Roman" panose="02020603050405020304" pitchFamily="18" charset="0"/>
                <a:cs typeface="Times New Roman" panose="02020603050405020304" pitchFamily="18" charset="0"/>
              </a:rPr>
              <a:t>Periodic consumer invocation</a:t>
            </a:r>
            <a:r>
              <a:rPr kumimoji="1" lang="en-US" altLang="zh-CN" sz="1200" b="0" dirty="0">
                <a:solidFill>
                  <a:schemeClr val="tx1"/>
                </a:solidFill>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0"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NODROP does not invoke the consumer until the buffer is full, leading to burst execution and extremely long event residence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In contrast, </a:t>
            </a:r>
            <a:r>
              <a:rPr lang="en-US" altLang="zh-CN" sz="1800" dirty="0">
                <a:effectLst/>
                <a:latin typeface="NimbusSanL"/>
              </a:rPr>
              <a:t>RT-NODROP </a:t>
            </a:r>
            <a:r>
              <a:rPr lang="en-US" altLang="zh-CN" sz="1800" dirty="0">
                <a:effectLst/>
                <a:latin typeface="NimbusRomNo9L"/>
              </a:rPr>
              <a:t>periodically invokes the consumer to ensure schedulability.</a:t>
            </a:r>
            <a:endParaRPr lang="en-US" altLang="zh-CN"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8</a:t>
            </a:fld>
            <a:endParaRPr kumimoji="1" lang="zh-CN" altLang="en-US"/>
          </a:p>
        </p:txBody>
      </p:sp>
    </p:spTree>
    <p:extLst>
      <p:ext uri="{BB962C8B-B14F-4D97-AF65-F5344CB8AC3E}">
        <p14:creationId xmlns:p14="http://schemas.microsoft.com/office/powerpoint/2010/main" val="276835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b="1" dirty="0"/>
              <a:t>Second, </a:t>
            </a:r>
            <a:r>
              <a:rPr kumimoji="1" lang="en-US" altLang="zh-CN" sz="1200" b="1" dirty="0">
                <a:solidFill>
                  <a:schemeClr val="tx1"/>
                </a:solidFill>
                <a:latin typeface="Times New Roman" panose="02020603050405020304" pitchFamily="18" charset="0"/>
                <a:cs typeface="Times New Roman" panose="02020603050405020304" pitchFamily="18" charset="0"/>
              </a:rPr>
              <a:t>Task-aware event residence time control</a:t>
            </a:r>
            <a:r>
              <a:rPr kumimoji="1" lang="en-US" altLang="zh-CN" sz="1200" b="0" dirty="0">
                <a:solidFill>
                  <a:schemeClr val="tx1"/>
                </a:solidFill>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We implement two optimizations to balance event residence time, schedulability, and system efficiency.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a:effectLst/>
                <a:latin typeface="NimbusRomNo9L"/>
              </a:rPr>
              <a:t>On the one hand, </a:t>
            </a:r>
            <a:r>
              <a:rPr lang="en-US" altLang="zh-CN" sz="1800" dirty="0">
                <a:effectLst/>
                <a:latin typeface="NimbusRomNo9L"/>
              </a:rPr>
              <a:t>the consumer invocation period of each application is individually controlled based on its load and interference between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This enables each task to have a different and controlled event residence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dirty="0">
                <a:effectLst/>
                <a:latin typeface="NimbusRomNo9L"/>
              </a:rPr>
              <a:t>On the other hand, </a:t>
            </a:r>
            <a:r>
              <a:rPr lang="en-US" altLang="zh-CN" sz="1800" dirty="0">
                <a:effectLst/>
                <a:latin typeface="NimbusRomNo9L"/>
              </a:rPr>
              <a:t>system administrators can customize constraints and goals for event residence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This flexibility allows administrators to prioritize, for instance, minimizing the event residence time for the highest-priority task or optimizing the average event residence time across all tasks.</a:t>
            </a:r>
            <a:endParaRPr lang="en-US" altLang="zh-CN"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9</a:t>
            </a:fld>
            <a:endParaRPr kumimoji="1" lang="zh-CN" altLang="en-US"/>
          </a:p>
        </p:txBody>
      </p:sp>
    </p:spTree>
    <p:extLst>
      <p:ext uri="{BB962C8B-B14F-4D97-AF65-F5344CB8AC3E}">
        <p14:creationId xmlns:p14="http://schemas.microsoft.com/office/powerpoint/2010/main" val="3304842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Third, </a:t>
            </a:r>
            <a:r>
              <a:rPr kumimoji="1" lang="en-US" altLang="zh-CN" sz="1200" b="1" dirty="0">
                <a:solidFill>
                  <a:schemeClr val="tx1"/>
                </a:solidFill>
                <a:latin typeface="Times New Roman" panose="02020603050405020304" pitchFamily="18" charset="0"/>
                <a:cs typeface="Times New Roman" panose="02020603050405020304" pitchFamily="18" charset="0"/>
              </a:rPr>
              <a:t>Decoupling consumer invocation from syscall execution</a:t>
            </a:r>
            <a:r>
              <a:rPr kumimoji="1" lang="en-US" altLang="zh-CN" sz="1200" b="0" dirty="0">
                <a:solidFill>
                  <a:schemeClr val="tx1"/>
                </a:solidFill>
                <a:latin typeface="Times New Roman" panose="02020603050405020304" pitchFamily="18" charset="0"/>
                <a:cs typeface="Times New Roman" panose="02020603050405020304" pitchFamily="18" charset="0"/>
              </a:rPr>
              <a:t>:</a:t>
            </a:r>
          </a:p>
          <a:p>
            <a:endParaRPr kumimoji="1" lang="en-US" altLang="zh-CN" sz="1200"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SanL"/>
              </a:rPr>
              <a:t>This approach</a:t>
            </a:r>
            <a:r>
              <a:rPr lang="en-US" altLang="zh-CN" sz="1800" dirty="0">
                <a:effectLst/>
                <a:latin typeface="NimbusRomNo9L"/>
              </a:rPr>
              <a:t> reduces the latency of syscall-intensive applications, such as Redis.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In detail, for each thread, </a:t>
            </a:r>
            <a:r>
              <a:rPr lang="en-US" altLang="zh-CN" sz="1800" dirty="0">
                <a:effectLst/>
                <a:latin typeface="NimbusSanL"/>
              </a:rPr>
              <a:t>RT-NODROP </a:t>
            </a:r>
            <a:r>
              <a:rPr lang="en-US" altLang="zh-CN" sz="1800" dirty="0">
                <a:effectLst/>
                <a:latin typeface="NimbusRomNo9L"/>
              </a:rPr>
              <a:t>registers a timer during the consumer initialization and sets its expiration time as the calculated consumer invocation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The timer binds a callback function to prepare the consumer execution context for that thread.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When the timer is triggered, the kernel executes the callback function, which replaces the program counter with the consumer entry point, initializes other registers, and allocates a stack for the consumer.</a:t>
            </a:r>
            <a:endParaRPr kumimoji="1" lang="zh-CN" altLang="en-US" b="0"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10</a:t>
            </a:fld>
            <a:endParaRPr kumimoji="1" lang="zh-CN" altLang="en-US"/>
          </a:p>
        </p:txBody>
      </p:sp>
    </p:spTree>
    <p:extLst>
      <p:ext uri="{BB962C8B-B14F-4D97-AF65-F5344CB8AC3E}">
        <p14:creationId xmlns:p14="http://schemas.microsoft.com/office/powerpoint/2010/main" val="2995410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Finally, </a:t>
            </a:r>
            <a:r>
              <a:rPr kumimoji="1" lang="en-US" altLang="zh-CN" sz="1200" b="1" dirty="0">
                <a:solidFill>
                  <a:schemeClr val="tx1"/>
                </a:solidFill>
                <a:latin typeface="Times New Roman" panose="02020603050405020304" pitchFamily="18" charset="0"/>
                <a:cs typeface="Times New Roman" panose="02020603050405020304" pitchFamily="18" charset="0"/>
              </a:rPr>
              <a:t>Consumer pre-loading</a:t>
            </a:r>
            <a:r>
              <a:rPr kumimoji="1" lang="en-US" altLang="zh-CN" sz="1200" b="0" dirty="0">
                <a:solidFill>
                  <a:schemeClr val="tx1"/>
                </a:solidFill>
                <a:latin typeface="Times New Roman" panose="02020603050405020304" pitchFamily="18" charset="0"/>
                <a:cs typeface="Times New Roman" panose="02020603050405020304" pitchFamily="18" charset="0"/>
              </a:rPr>
              <a:t>:</a:t>
            </a:r>
          </a:p>
          <a:p>
            <a:endParaRPr kumimoji="1" lang="en-US" altLang="zh-CN" sz="1200" b="0" dirty="0">
              <a:solidFill>
                <a:schemeClr val="tx1"/>
              </a:solidFill>
              <a:latin typeface="Times New Roman" panose="02020603050405020304" pitchFamily="18" charset="0"/>
              <a:cs typeface="Times New Roman" panose="02020603050405020304" pitchFamily="18" charset="0"/>
            </a:endParaRPr>
          </a:p>
          <a:p>
            <a:r>
              <a:rPr lang="en-US" altLang="zh-CN" sz="1800" dirty="0">
                <a:effectLst/>
                <a:latin typeface="NimbusSanL"/>
              </a:rPr>
              <a:t>This </a:t>
            </a:r>
            <a:r>
              <a:rPr lang="en-US" altLang="zh-CN" sz="1800" dirty="0">
                <a:effectLst/>
                <a:latin typeface="NimbusRomNo9L"/>
              </a:rPr>
              <a:t>approach means that consumers are loaded in advance at the time of each thread creation.</a:t>
            </a:r>
          </a:p>
          <a:p>
            <a:endParaRPr lang="en-US" altLang="zh-CN" sz="1800" dirty="0">
              <a:effectLst/>
              <a:latin typeface="NimbusRomNo9L"/>
            </a:endParaRPr>
          </a:p>
          <a:p>
            <a:r>
              <a:rPr lang="en-US" altLang="zh-CN" sz="1800" dirty="0">
                <a:effectLst/>
                <a:latin typeface="NimbusRomNo9L"/>
              </a:rPr>
              <a:t>In the subsequent thread execution, </a:t>
            </a:r>
            <a:r>
              <a:rPr lang="en-US" altLang="zh-CN" sz="1800" dirty="0">
                <a:effectLst/>
                <a:latin typeface="NimbusSanL"/>
              </a:rPr>
              <a:t>RT-NODROP </a:t>
            </a:r>
            <a:r>
              <a:rPr lang="en-US" altLang="zh-CN" sz="1800" dirty="0">
                <a:effectLst/>
                <a:latin typeface="NimbusRomNo9L"/>
              </a:rPr>
              <a:t>only has the cost of switching to the consumer, without the cost of loading and initialization.</a:t>
            </a:r>
            <a:endParaRPr lang="en-US" altLang="zh-CN"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11</a:t>
            </a:fld>
            <a:endParaRPr kumimoji="1" lang="zh-CN" altLang="en-US"/>
          </a:p>
        </p:txBody>
      </p:sp>
    </p:spTree>
    <p:extLst>
      <p:ext uri="{BB962C8B-B14F-4D97-AF65-F5344CB8AC3E}">
        <p14:creationId xmlns:p14="http://schemas.microsoft.com/office/powerpoint/2010/main" val="4035689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a:t>
            </a:r>
            <a:r>
              <a:rPr kumimoji="1" lang="zh-CN" altLang="en-US" dirty="0"/>
              <a:t> </a:t>
            </a:r>
            <a:r>
              <a:rPr kumimoji="1" lang="en-US" altLang="zh-CN" dirty="0"/>
              <a:t>provide</a:t>
            </a:r>
            <a:r>
              <a:rPr kumimoji="1" lang="zh-CN" altLang="en-US" dirty="0"/>
              <a:t> </a:t>
            </a:r>
            <a:r>
              <a:rPr kumimoji="1" lang="en-US" altLang="zh-CN" dirty="0"/>
              <a:t>detailed</a:t>
            </a:r>
            <a:r>
              <a:rPr kumimoji="1" lang="zh-CN" altLang="en-US" dirty="0"/>
              <a:t> </a:t>
            </a:r>
            <a:r>
              <a:rPr kumimoji="1" lang="en-US" altLang="zh-CN" dirty="0"/>
              <a:t>mathematical derivation, including task response time analysis and event residence time analysis, to support our design.</a:t>
            </a:r>
          </a:p>
          <a:p>
            <a:endParaRPr kumimoji="1" lang="en-US" altLang="zh-CN" sz="1200" u="none"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000" u="none"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This </a:t>
            </a:r>
            <a:r>
              <a:rPr kumimoji="1" lang="en-US" altLang="zh-CN" dirty="0"/>
              <a:t>task response time analysis is based on</a:t>
            </a:r>
            <a:r>
              <a:rPr kumimoji="1" lang="en-US" altLang="zh-CN" b="0" dirty="0"/>
              <a:t> </a:t>
            </a:r>
            <a:r>
              <a:rPr kumimoji="1" lang="en-US" altLang="zh-CN" b="0" i="1" dirty="0"/>
              <a:t>“</a:t>
            </a:r>
            <a:r>
              <a:rPr lang="en-US" altLang="zh-CN" sz="1200" b="0" i="1" dirty="0">
                <a:effectLst/>
                <a:latin typeface="Times"/>
              </a:rPr>
              <a:t>Applying New Scheduling Theory to Static Priority Pre-emptive Scheduling” </a:t>
            </a:r>
            <a:r>
              <a:rPr lang="en-US" altLang="zh-CN" sz="1200" b="0" dirty="0">
                <a:effectLst/>
                <a:latin typeface="Times"/>
              </a:rPr>
              <a:t>presented by </a:t>
            </a:r>
            <a:r>
              <a:rPr lang="en-US" altLang="zh-CN" sz="1200" i="1" dirty="0">
                <a:effectLst/>
                <a:latin typeface="Times"/>
              </a:rPr>
              <a:t>N. Audsley.</a:t>
            </a:r>
            <a:endParaRPr lang="en-US" altLang="zh-CN" sz="1200" u="none"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endParaRPr kumimoji="1" lang="en-US" altLang="zh-CN" sz="1200" u="none"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Specifically , Task response time analysis </a:t>
            </a:r>
            <a:r>
              <a:rPr lang="en-US" altLang="zh-CN" sz="1200" b="0" i="0" kern="1200" dirty="0">
                <a:solidFill>
                  <a:schemeClr val="tx1"/>
                </a:solidFill>
                <a:effectLst/>
                <a:latin typeface="+mn-lt"/>
                <a:ea typeface="+mn-ea"/>
                <a:cs typeface="+mn-cs"/>
              </a:rPr>
              <a:t>quantifies two auditing overheads—the first is </a:t>
            </a:r>
            <a:r>
              <a:rPr lang="en-US" altLang="zh-CN" sz="1200" b="0" i="0" kern="1200" dirty="0" err="1">
                <a:solidFill>
                  <a:schemeClr val="tx1"/>
                </a:solidFill>
                <a:effectLst/>
                <a:latin typeface="+mn-lt"/>
                <a:ea typeface="+mn-ea"/>
                <a:cs typeface="+mn-cs"/>
              </a:rPr>
              <a:t>syscall</a:t>
            </a:r>
            <a:r>
              <a:rPr lang="en-US" altLang="zh-CN" sz="1200" b="0" i="0" kern="1200" dirty="0">
                <a:solidFill>
                  <a:schemeClr val="tx1"/>
                </a:solidFill>
                <a:effectLst/>
                <a:latin typeface="+mn-lt"/>
                <a:ea typeface="+mn-ea"/>
                <a:cs typeface="+mn-cs"/>
              </a:rPr>
              <a:t> tracing and the second is consumer execution—and incorporates it into a real-time task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It provides a formula to finally compute worst-case response times.</a:t>
            </a:r>
            <a:endParaRPr kumimoji="1" lang="en-US" altLang="zh-CN" sz="1200" u="none"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u="none"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12</a:t>
            </a:fld>
            <a:endParaRPr kumimoji="1" lang="zh-CN" altLang="en-US"/>
          </a:p>
        </p:txBody>
      </p:sp>
    </p:spTree>
    <p:extLst>
      <p:ext uri="{BB962C8B-B14F-4D97-AF65-F5344CB8AC3E}">
        <p14:creationId xmlns:p14="http://schemas.microsoft.com/office/powerpoint/2010/main" val="1265178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Here, event residence time analysis is broken into waiting and processing phases, with bounds derived from consumer periods and response times. This ensures predictable and secure event handling, mitigating race-condition and flooding attacks.</a:t>
            </a:r>
            <a:endParaRPr kumimoji="1" lang="zh-CN" altLang="en-US"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13</a:t>
            </a:fld>
            <a:endParaRPr kumimoji="1" lang="zh-CN" altLang="en-US"/>
          </a:p>
        </p:txBody>
      </p:sp>
    </p:spTree>
    <p:extLst>
      <p:ext uri="{BB962C8B-B14F-4D97-AF65-F5344CB8AC3E}">
        <p14:creationId xmlns:p14="http://schemas.microsoft.com/office/powerpoint/2010/main" val="2741827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dirty="0">
                <a:solidFill>
                  <a:schemeClr val="tx1"/>
                </a:solidFill>
                <a:latin typeface="Times New Roman" panose="02020603050405020304" pitchFamily="18" charset="0"/>
                <a:cs typeface="Times New Roman" panose="02020603050405020304" pitchFamily="18" charset="0"/>
              </a:rPr>
              <a:t>We u</a:t>
            </a:r>
            <a:r>
              <a:rPr kumimoji="1" lang="en-US" altLang="zh-CN" sz="1200" dirty="0">
                <a:solidFill>
                  <a:schemeClr val="tx1"/>
                </a:solidFill>
                <a:latin typeface="Times New Roman" panose="02020603050405020304" pitchFamily="18" charset="0"/>
                <a:cs typeface="Times New Roman" panose="02020603050405020304" pitchFamily="18" charset="0"/>
              </a:rPr>
              <a:t>se PSO algorithm to adjust the consumer invocation period of each task.</a:t>
            </a:r>
          </a:p>
          <a:p>
            <a:endParaRPr kumimoji="1" lang="en-US" altLang="zh-CN" sz="1200" dirty="0">
              <a:solidFill>
                <a:schemeClr val="tx1"/>
              </a:solidFill>
              <a:latin typeface="Times New Roman" panose="02020603050405020304" pitchFamily="18" charset="0"/>
              <a:cs typeface="Times New Roman" panose="02020603050405020304" pitchFamily="18" charset="0"/>
            </a:endParaRPr>
          </a:p>
          <a:p>
            <a:r>
              <a:rPr lang="en-US" altLang="zh-CN" sz="1200" b="0" i="0" kern="1200" dirty="0">
                <a:solidFill>
                  <a:schemeClr val="tx1"/>
                </a:solidFill>
                <a:effectLst/>
                <a:latin typeface="+mn-lt"/>
                <a:ea typeface="+mn-ea"/>
                <a:cs typeface="+mn-cs"/>
              </a:rPr>
              <a:t>This PSO-based algorithm optimizes consumer invocation periods to jointly satisfy </a:t>
            </a:r>
            <a:r>
              <a:rPr lang="en-US" altLang="zh-CN" sz="1200" b="0" i="0" kern="1200" dirty="0" err="1">
                <a:solidFill>
                  <a:schemeClr val="tx1"/>
                </a:solidFill>
                <a:effectLst/>
                <a:latin typeface="+mn-lt"/>
                <a:ea typeface="+mn-ea"/>
                <a:cs typeface="+mn-cs"/>
              </a:rPr>
              <a:t>schedulability</a:t>
            </a:r>
            <a:r>
              <a:rPr lang="en-US" altLang="zh-CN" sz="1200" b="0" i="0" kern="1200" dirty="0">
                <a:solidFill>
                  <a:schemeClr val="tx1"/>
                </a:solidFill>
                <a:effectLst/>
                <a:latin typeface="+mn-lt"/>
                <a:ea typeface="+mn-ea"/>
                <a:cs typeface="+mn-cs"/>
              </a:rPr>
              <a:t> and event residence time constraints. This allows administrators to balance security, performance, and real-time guarantees.</a:t>
            </a:r>
            <a:endParaRPr kumimoji="1" lang="zh-CN" altLang="en-US" b="0"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14</a:t>
            </a:fld>
            <a:endParaRPr kumimoji="1" lang="zh-CN" altLang="en-US"/>
          </a:p>
        </p:txBody>
      </p:sp>
    </p:spTree>
    <p:extLst>
      <p:ext uri="{BB962C8B-B14F-4D97-AF65-F5344CB8AC3E}">
        <p14:creationId xmlns:p14="http://schemas.microsoft.com/office/powerpoint/2010/main" val="1552666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Our evaluation consists of three parts.</a:t>
            </a:r>
          </a:p>
          <a:p>
            <a:endParaRPr kumimoji="1" lang="en-US" altLang="zh-CN" dirty="0"/>
          </a:p>
          <a:p>
            <a:r>
              <a:rPr kumimoji="1" lang="en-US" altLang="zh-CN" dirty="0"/>
              <a:t>The first part is micro benchmark.</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we use lmbench to measure the syscall overhead caused by different auditing frameworks and list the results in the Table.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We found that the impact of </a:t>
            </a:r>
            <a:r>
              <a:rPr lang="en-US" altLang="zh-CN" sz="1800" dirty="0">
                <a:effectLst/>
                <a:latin typeface="NimbusSanL"/>
              </a:rPr>
              <a:t>RT-NODROP </a:t>
            </a:r>
            <a:r>
              <a:rPr lang="en-US" altLang="zh-CN" sz="1800" dirty="0">
                <a:effectLst/>
                <a:latin typeface="NimbusRomNo9L"/>
              </a:rPr>
              <a:t>on syscalls is smaller than that of Sysdig and OMNILOG. For example, the execution time of OMNILOG for all syscalls is up to 1.5 times higher than that of </a:t>
            </a:r>
            <a:r>
              <a:rPr lang="en-US" altLang="zh-CN" sz="1800" dirty="0">
                <a:effectLst/>
                <a:latin typeface="NimbusSanL"/>
              </a:rPr>
              <a:t>RT-NODROP</a:t>
            </a:r>
            <a:r>
              <a:rPr lang="en-US" altLang="zh-CN" sz="1800" dirty="0">
                <a:effectLst/>
                <a:latin typeface="NimbusRomNo9L"/>
              </a:rPr>
              <a:t>.</a:t>
            </a:r>
            <a:endParaRPr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The syscall overhead of </a:t>
            </a:r>
            <a:r>
              <a:rPr lang="en-US" altLang="zh-CN" sz="1800" dirty="0">
                <a:effectLst/>
                <a:latin typeface="NimbusSanL"/>
              </a:rPr>
              <a:t>RT-NODROP </a:t>
            </a:r>
            <a:r>
              <a:rPr lang="en-US" altLang="zh-CN" sz="1800" dirty="0">
                <a:effectLst/>
                <a:latin typeface="NimbusRomNo9L"/>
              </a:rPr>
              <a:t>is slightly higher than that of NODROP. We conclude that this additional cost comes from the higher frequency of consumer invocation.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15</a:t>
            </a:fld>
            <a:endParaRPr kumimoji="1" lang="zh-CN" altLang="en-US"/>
          </a:p>
        </p:txBody>
      </p:sp>
    </p:spTree>
    <p:extLst>
      <p:ext uri="{BB962C8B-B14F-4D97-AF65-F5344CB8AC3E}">
        <p14:creationId xmlns:p14="http://schemas.microsoft.com/office/powerpoint/2010/main" val="1923929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Our second evaluation measures the schedulability and event residence time of different frameworks, and </a:t>
            </a:r>
            <a:r>
              <a:rPr lang="en-US" altLang="zh-CN" sz="1800" dirty="0">
                <a:effectLst/>
                <a:latin typeface="NimbusRomNo9L"/>
              </a:rPr>
              <a:t>measures the improvement in the Schedulable Utilization Areas (SUAs).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We found that the schedulability of RT-NODROP is superior over SOTA frameworks and its event residence time remains </a:t>
            </a:r>
            <a:r>
              <a:rPr kumimoji="1" lang="en-US" altLang="zh-CN" sz="1200" dirty="0">
                <a:solidFill>
                  <a:schemeClr val="tx1"/>
                </a:solidFill>
                <a:latin typeface="Times New Roman" panose="02020603050405020304" pitchFamily="18" charset="0"/>
                <a:cs typeface="Times New Roman" panose="02020603050405020304" pitchFamily="18" charset="0"/>
              </a:rPr>
              <a:t>stable, consistently around </a:t>
            </a:r>
            <a:r>
              <a:rPr kumimoji="1" lang="en-US" altLang="zh-CN" sz="1200" b="0" dirty="0">
                <a:solidFill>
                  <a:srgbClr val="FF0000"/>
                </a:solidFill>
                <a:latin typeface="Times New Roman" panose="02020603050405020304" pitchFamily="18" charset="0"/>
                <a:cs typeface="Times New Roman" panose="02020603050405020304" pitchFamily="18" charset="0"/>
              </a:rPr>
              <a:t>10ms.</a:t>
            </a:r>
            <a:endParaRPr lang="en-US" altLang="zh-CN" b="0" dirty="0"/>
          </a:p>
          <a:p>
            <a:endParaRPr kumimoji="1" lang="en-US" altLang="zh-CN" dirty="0"/>
          </a:p>
          <a:p>
            <a:r>
              <a:rPr kumimoji="1" lang="en-US" altLang="zh-CN" sz="1200" b="0" dirty="0">
                <a:solidFill>
                  <a:schemeClr val="tx1"/>
                </a:solidFill>
                <a:latin typeface="Times New Roman" panose="02020603050405020304" pitchFamily="18" charset="0"/>
                <a:cs typeface="Times New Roman" panose="02020603050405020304" pitchFamily="18" charset="0"/>
              </a:rPr>
              <a:t>On average, RT-NODROP outperforms Sysdig (OMNILOG) by </a:t>
            </a:r>
            <a:r>
              <a:rPr kumimoji="1" lang="en-US" altLang="zh-CN" sz="1200" b="0" dirty="0">
                <a:solidFill>
                  <a:srgbClr val="FF0000"/>
                </a:solidFill>
                <a:latin typeface="Times New Roman" panose="02020603050405020304" pitchFamily="18" charset="0"/>
                <a:cs typeface="Times New Roman" panose="02020603050405020304" pitchFamily="18" charset="0"/>
              </a:rPr>
              <a:t>11.63% (21.98%)</a:t>
            </a:r>
            <a:r>
              <a:rPr kumimoji="1" lang="en-US" altLang="zh-CN" sz="1200" b="0" dirty="0">
                <a:solidFill>
                  <a:schemeClr val="tx1"/>
                </a:solidFill>
                <a:latin typeface="Times New Roman" panose="02020603050405020304" pitchFamily="18" charset="0"/>
                <a:cs typeface="Times New Roman" panose="02020603050405020304" pitchFamily="18" charset="0"/>
              </a:rPr>
              <a:t> and outperforms Ellipsis (Auditd) by </a:t>
            </a:r>
            <a:r>
              <a:rPr kumimoji="1" lang="en-US" altLang="zh-CN" sz="1200" b="0" dirty="0">
                <a:solidFill>
                  <a:srgbClr val="FF0000"/>
                </a:solidFill>
                <a:latin typeface="Times New Roman" panose="02020603050405020304" pitchFamily="18" charset="0"/>
                <a:cs typeface="Times New Roman" panose="02020603050405020304" pitchFamily="18" charset="0"/>
              </a:rPr>
              <a:t>8.64% (850.97%)</a:t>
            </a:r>
            <a:r>
              <a:rPr kumimoji="1" lang="en-US" altLang="zh-CN" sz="1200" b="0" dirty="0">
                <a:solidFill>
                  <a:schemeClr val="tx1"/>
                </a:solidFill>
                <a:latin typeface="Times New Roman" panose="02020603050405020304" pitchFamily="18" charset="0"/>
                <a:cs typeface="Times New Roman" panose="02020603050405020304" pitchFamily="18" charset="0"/>
              </a:rPr>
              <a:t>.</a:t>
            </a:r>
            <a:endParaRPr kumimoji="1" lang="zh-CN" altLang="en-US" b="0"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16</a:t>
            </a:fld>
            <a:endParaRPr kumimoji="1" lang="zh-CN" altLang="en-US"/>
          </a:p>
        </p:txBody>
      </p:sp>
    </p:spTree>
    <p:extLst>
      <p:ext uri="{BB962C8B-B14F-4D97-AF65-F5344CB8AC3E}">
        <p14:creationId xmlns:p14="http://schemas.microsoft.com/office/powerpoint/2010/main" val="2894208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Finally, </a:t>
            </a:r>
            <a:r>
              <a:rPr kumimoji="1" lang="en-US" altLang="zh-CN" sz="1800" dirty="0">
                <a:effectLst/>
                <a:latin typeface="NimbusRomNo9L"/>
              </a:rPr>
              <a:t>w</a:t>
            </a:r>
            <a:r>
              <a:rPr lang="en-US" altLang="zh-CN" sz="1800" dirty="0">
                <a:effectLst/>
                <a:latin typeface="NimbusRomNo9L"/>
              </a:rPr>
              <a:t>e use </a:t>
            </a:r>
            <a:r>
              <a:rPr lang="en-US" altLang="zh-CN" sz="1800" dirty="0">
                <a:effectLst/>
                <a:latin typeface="NimbusMonL"/>
              </a:rPr>
              <a:t>Redis </a:t>
            </a:r>
            <a:r>
              <a:rPr lang="en-US" altLang="zh-CN" sz="1800" dirty="0">
                <a:effectLst/>
                <a:latin typeface="NimbusRomNo9L"/>
              </a:rPr>
              <a:t>as a representative </a:t>
            </a:r>
            <a:r>
              <a:rPr lang="en-US" altLang="zh-CN" sz="1800" dirty="0">
                <a:effectLst/>
                <a:latin typeface="NimbusMonL"/>
              </a:rPr>
              <a:t>to </a:t>
            </a:r>
            <a:r>
              <a:rPr lang="en-US" altLang="zh-CN" sz="1200" dirty="0">
                <a:effectLst/>
                <a:latin typeface="NimbusRomNo9L"/>
              </a:rPr>
              <a:t>illustrate how </a:t>
            </a:r>
            <a:r>
              <a:rPr lang="en-US" altLang="zh-CN" sz="1200" dirty="0">
                <a:effectLst/>
                <a:latin typeface="NimbusSanL"/>
              </a:rPr>
              <a:t>RT-NODROP </a:t>
            </a:r>
            <a:r>
              <a:rPr lang="en-US" altLang="zh-CN" sz="1200" dirty="0">
                <a:effectLst/>
                <a:latin typeface="NimbusRomNo9L"/>
              </a:rPr>
              <a:t>provides lower tail latency for latency-sensitive applications while maintaining the same throughput with NODROP.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effectLst/>
                <a:latin typeface="NimbusRomNo9L"/>
              </a:rPr>
              <a:t>We found that </a:t>
            </a:r>
            <a:r>
              <a:rPr kumimoji="1" lang="en-US" altLang="zh-CN" sz="1200" b="0" dirty="0">
                <a:solidFill>
                  <a:schemeClr val="tx1"/>
                </a:solidFill>
                <a:latin typeface="Times New Roman" panose="02020603050405020304" pitchFamily="18" charset="0"/>
                <a:cs typeface="Times New Roman" panose="02020603050405020304" pitchFamily="18" charset="0"/>
              </a:rPr>
              <a:t>RT-NODROP achieves up to </a:t>
            </a:r>
            <a:r>
              <a:rPr kumimoji="1" lang="en-US" altLang="zh-CN" sz="1200" b="0" dirty="0">
                <a:solidFill>
                  <a:srgbClr val="FF0000"/>
                </a:solidFill>
                <a:latin typeface="Times New Roman" panose="02020603050405020304" pitchFamily="18" charset="0"/>
                <a:cs typeface="Times New Roman" panose="02020603050405020304" pitchFamily="18" charset="0"/>
              </a:rPr>
              <a:t>75.1% (138.86%, 324.6%) </a:t>
            </a:r>
            <a:r>
              <a:rPr kumimoji="1" lang="en-US" altLang="zh-CN" sz="1200" b="0" dirty="0">
                <a:solidFill>
                  <a:schemeClr val="tx1"/>
                </a:solidFill>
                <a:latin typeface="Times New Roman" panose="02020603050405020304" pitchFamily="18" charset="0"/>
                <a:cs typeface="Times New Roman" panose="02020603050405020304" pitchFamily="18" charset="0"/>
              </a:rPr>
              <a:t>higher throughput and </a:t>
            </a:r>
            <a:r>
              <a:rPr kumimoji="1" lang="en-US" altLang="zh-CN" sz="1200" b="0" dirty="0">
                <a:solidFill>
                  <a:srgbClr val="FF0000"/>
                </a:solidFill>
                <a:latin typeface="Times New Roman" panose="02020603050405020304" pitchFamily="18" charset="0"/>
                <a:cs typeface="Times New Roman" panose="02020603050405020304" pitchFamily="18" charset="0"/>
              </a:rPr>
              <a:t>2.19× (3.07×, 5.02x) </a:t>
            </a:r>
            <a:r>
              <a:rPr kumimoji="1" lang="en-US" altLang="zh-CN" sz="1200" b="0" dirty="0">
                <a:solidFill>
                  <a:schemeClr val="tx1"/>
                </a:solidFill>
                <a:latin typeface="Times New Roman" panose="02020603050405020304" pitchFamily="18" charset="0"/>
                <a:cs typeface="Times New Roman" panose="02020603050405020304" pitchFamily="18" charset="0"/>
              </a:rPr>
              <a:t>lower 99.9th percentile tail latency than Sysdig (OMNILOG, Ellipsis).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solidFill>
                  <a:schemeClr val="tx1"/>
                </a:solidFill>
                <a:latin typeface="Times New Roman" panose="02020603050405020304" pitchFamily="18" charset="0"/>
                <a:cs typeface="Times New Roman" panose="02020603050405020304" pitchFamily="18" charset="0"/>
              </a:rPr>
              <a:t>RT-NODROP maintains a minimum event residence time around </a:t>
            </a:r>
            <a:r>
              <a:rPr kumimoji="1" lang="en-US" altLang="zh-CN" sz="1200" b="0" dirty="0">
                <a:solidFill>
                  <a:srgbClr val="FF0000"/>
                </a:solidFill>
                <a:latin typeface="Times New Roman" panose="02020603050405020304" pitchFamily="18" charset="0"/>
                <a:cs typeface="Times New Roman" panose="02020603050405020304" pitchFamily="18" charset="0"/>
              </a:rPr>
              <a:t>10ms</a:t>
            </a:r>
            <a:r>
              <a:rPr kumimoji="1" lang="en-US" altLang="zh-CN" sz="1200" dirty="0">
                <a:solidFill>
                  <a:schemeClr val="tx1"/>
                </a:solidFill>
                <a:latin typeface="Times New Roman" panose="02020603050405020304" pitchFamily="18" charset="0"/>
                <a:cs typeface="Times New Roman" panose="02020603050405020304" pitchFamily="18" charset="0"/>
              </a:rPr>
              <a:t> without event dropping.</a:t>
            </a:r>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17</a:t>
            </a:fld>
            <a:endParaRPr kumimoji="1" lang="zh-CN" altLang="en-US"/>
          </a:p>
        </p:txBody>
      </p:sp>
    </p:spTree>
    <p:extLst>
      <p:ext uri="{BB962C8B-B14F-4D97-AF65-F5344CB8AC3E}">
        <p14:creationId xmlns:p14="http://schemas.microsoft.com/office/powerpoint/2010/main" val="305633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This figure shows the distribution of the </a:t>
            </a:r>
            <a:r>
              <a:rPr lang="en-US" altLang="zh-CN" sz="1800" dirty="0">
                <a:effectLst/>
                <a:latin typeface="NimbusMonL"/>
              </a:rPr>
              <a:t>set/get </a:t>
            </a:r>
            <a:r>
              <a:rPr lang="en-US" altLang="zh-CN" sz="1800" dirty="0">
                <a:effectLst/>
                <a:latin typeface="NimbusRomNo9L"/>
              </a:rPr>
              <a:t>latency.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NODROP and </a:t>
            </a:r>
            <a:r>
              <a:rPr lang="en-US" altLang="zh-CN" sz="1800" dirty="0">
                <a:effectLst/>
                <a:latin typeface="NimbusSanL"/>
              </a:rPr>
              <a:t>RT-NODROP </a:t>
            </a:r>
            <a:r>
              <a:rPr lang="en-US" altLang="zh-CN" sz="1800" dirty="0">
                <a:effectLst/>
                <a:latin typeface="NimbusRomNo9L"/>
              </a:rPr>
              <a:t>shows a similar distribution on both single-core and multi-core, but NODROP has a much longer tail.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Sysdig and OMNILOG has worse overall distribution and longer tail latency than NODROP, while Auditd and Ellipsis are even worse, validating the predictability guarantees in </a:t>
            </a:r>
            <a:r>
              <a:rPr lang="en-US" altLang="zh-CN" sz="1800" dirty="0">
                <a:effectLst/>
                <a:latin typeface="NimbusSanL"/>
              </a:rPr>
              <a:t>RT-NODROP</a:t>
            </a:r>
            <a:r>
              <a:rPr lang="en-US" altLang="zh-CN" sz="1800" dirty="0">
                <a:effectLst/>
                <a:latin typeface="NimbusRomNo9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NimbusRomNo9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NimbusRomNo9L"/>
              </a:rPr>
              <a:t>Auditd shows the worst results of both </a:t>
            </a:r>
            <a:r>
              <a:rPr lang="en-US" altLang="zh-CN" sz="1800" dirty="0">
                <a:effectLst/>
                <a:latin typeface="NimbusMonL"/>
              </a:rPr>
              <a:t>set </a:t>
            </a:r>
            <a:r>
              <a:rPr lang="en-US" altLang="zh-CN" sz="1800" dirty="0">
                <a:effectLst/>
                <a:latin typeface="NimbusRomNo9L"/>
              </a:rPr>
              <a:t>and </a:t>
            </a:r>
            <a:r>
              <a:rPr lang="en-US" altLang="zh-CN" sz="1800" dirty="0">
                <a:effectLst/>
                <a:latin typeface="NimbusMonL"/>
              </a:rPr>
              <a:t>get</a:t>
            </a:r>
            <a:r>
              <a:rPr lang="en-US" altLang="zh-CN" sz="1800" dirty="0">
                <a:effectLst/>
                <a:latin typeface="NimbusRomNo9L"/>
              </a:rPr>
              <a:t>. The latency of Ellipsis is more than four times that of </a:t>
            </a:r>
            <a:r>
              <a:rPr lang="en-US" altLang="zh-CN" sz="1800" dirty="0">
                <a:effectLst/>
                <a:latin typeface="NimbusSanL"/>
              </a:rPr>
              <a:t>RT-NODROP.</a:t>
            </a:r>
            <a:endParaRPr lang="en-US" altLang="zh-CN"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18</a:t>
            </a:fld>
            <a:endParaRPr kumimoji="1" lang="zh-CN" altLang="en-US"/>
          </a:p>
        </p:txBody>
      </p:sp>
    </p:spTree>
    <p:extLst>
      <p:ext uri="{BB962C8B-B14F-4D97-AF65-F5344CB8AC3E}">
        <p14:creationId xmlns:p14="http://schemas.microsoft.com/office/powerpoint/2010/main" val="264253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RT-NODROP always achieves the lowest P99 event residence time. </a:t>
            </a:r>
          </a:p>
          <a:p>
            <a:endParaRPr lang="en-US" altLang="zh-CN" dirty="0"/>
          </a:p>
          <a:p>
            <a:r>
              <a:rPr lang="en-US" altLang="zh-CN" dirty="0"/>
              <a:t>The CDF result shows that, when the Redis server is running on a single core, 99% of the RT-NODROP’s events reside for less than 20ms in the kernel buffer, which is much smaller than that of </a:t>
            </a:r>
            <a:r>
              <a:rPr lang="en-US" altLang="zh-CN" dirty="0" err="1"/>
              <a:t>Sysdig</a:t>
            </a:r>
            <a:r>
              <a:rPr lang="en-US" altLang="zh-CN" dirty="0"/>
              <a:t> and NODROP. 97% of NODROP’s events reside in the buffer for more than 500ms. </a:t>
            </a:r>
          </a:p>
          <a:p>
            <a:endParaRPr lang="en-US" altLang="zh-CN" dirty="0"/>
          </a:p>
          <a:p>
            <a:r>
              <a:rPr lang="en-US" altLang="zh-CN" dirty="0"/>
              <a:t>We conclude that it adopts a huge buffer size and needs to wait a long time for the buffer to reach its capacity and switch to the consumer. </a:t>
            </a:r>
          </a:p>
          <a:p>
            <a:endParaRPr lang="en-US" altLang="zh-CN" dirty="0"/>
          </a:p>
          <a:p>
            <a:r>
              <a:rPr lang="en-US" altLang="zh-CN" dirty="0"/>
              <a:t>It is worth noting that, when an application generates the system call events at a lower rate, the buffer will be extremely hard to fill, and the event residence time may be even higher.</a:t>
            </a:r>
            <a:endParaRPr lang="zh-CN" altLang="en-US" dirty="0"/>
          </a:p>
        </p:txBody>
      </p:sp>
      <p:sp>
        <p:nvSpPr>
          <p:cNvPr id="4" name="灯片编号占位符 3"/>
          <p:cNvSpPr>
            <a:spLocks noGrp="1"/>
          </p:cNvSpPr>
          <p:nvPr>
            <p:ph type="sldNum" sz="quarter" idx="5"/>
          </p:nvPr>
        </p:nvSpPr>
        <p:spPr/>
        <p:txBody>
          <a:bodyPr/>
          <a:lstStyle/>
          <a:p>
            <a:fld id="{892C80A3-2054-614E-BDEF-CCBE431BBF08}" type="slidenum">
              <a:rPr kumimoji="1" lang="zh-CN" altLang="en-US" smtClean="0"/>
              <a:t>19</a:t>
            </a:fld>
            <a:endParaRPr kumimoji="1" lang="zh-CN" altLang="en-US"/>
          </a:p>
        </p:txBody>
      </p:sp>
    </p:spTree>
    <p:extLst>
      <p:ext uri="{BB962C8B-B14F-4D97-AF65-F5344CB8AC3E}">
        <p14:creationId xmlns:p14="http://schemas.microsoft.com/office/powerpoint/2010/main" val="2616365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878A0-D6EF-C9AD-1AD0-A0D8D6F0D3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BCB444-ED6E-4430-F254-62C44FE87C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E8069F-8EFA-03C2-500A-C933BE7B0473}"/>
              </a:ext>
            </a:extLst>
          </p:cNvPr>
          <p:cNvSpPr>
            <a:spLocks noGrp="1"/>
          </p:cNvSpPr>
          <p:nvPr>
            <p:ph type="body" idx="1"/>
          </p:nvPr>
        </p:nvSpPr>
        <p:spPr/>
        <p:txBody>
          <a:bodyPr/>
          <a:lstStyle/>
          <a:p>
            <a:pPr>
              <a:lnSpc>
                <a:spcPct val="120000"/>
              </a:lnSpc>
            </a:pPr>
            <a:r>
              <a:rPr lang="en-US" altLang="zh-CN" sz="2100" dirty="0">
                <a:latin typeface="Times New Roman" panose="02020603050405020304" pitchFamily="18" charset="0"/>
                <a:cs typeface="Times New Roman" panose="02020603050405020304" pitchFamily="18" charset="0"/>
              </a:rPr>
              <a:t>In conclusion, Existing auditing frameworks fail to meet the predictability and security requirements of real-time systems.</a:t>
            </a:r>
          </a:p>
          <a:p>
            <a:pPr>
              <a:lnSpc>
                <a:spcPct val="120000"/>
              </a:lnSpc>
            </a:pPr>
            <a:endParaRPr lang="en-US" altLang="zh-CN" sz="2100" dirty="0">
              <a:latin typeface="Times New Roman" panose="02020603050405020304" pitchFamily="18" charset="0"/>
              <a:cs typeface="Times New Roman" panose="02020603050405020304" pitchFamily="18" charset="0"/>
            </a:endParaRPr>
          </a:p>
          <a:p>
            <a:pPr>
              <a:lnSpc>
                <a:spcPct val="120000"/>
              </a:lnSpc>
            </a:pPr>
            <a:r>
              <a:rPr lang="en-US" altLang="zh-CN" sz="2100" dirty="0">
                <a:latin typeface="Times New Roman" panose="02020603050405020304" pitchFamily="18" charset="0"/>
                <a:cs typeface="Times New Roman" panose="02020603050405020304" pitchFamily="18" charset="0"/>
              </a:rPr>
              <a:t>On one hand, </a:t>
            </a:r>
            <a:r>
              <a:rPr lang="en-US" altLang="zh-CN" sz="1700" dirty="0">
                <a:latin typeface="Times New Roman" panose="02020603050405020304" pitchFamily="18" charset="0"/>
                <a:cs typeface="Times New Roman" panose="02020603050405020304" pitchFamily="18" charset="0"/>
              </a:rPr>
              <a:t>they lack bounded worst-case execution time (WCET) and cannot integrate with real-time </a:t>
            </a:r>
            <a:r>
              <a:rPr lang="en-US" altLang="zh-CN" sz="1700" dirty="0" err="1">
                <a:latin typeface="Times New Roman" panose="02020603050405020304" pitchFamily="18" charset="0"/>
                <a:cs typeface="Times New Roman" panose="02020603050405020304" pitchFamily="18" charset="0"/>
              </a:rPr>
              <a:t>schedulability</a:t>
            </a:r>
            <a:r>
              <a:rPr lang="en-US" altLang="zh-CN" sz="1700" dirty="0">
                <a:latin typeface="Times New Roman" panose="02020603050405020304" pitchFamily="18" charset="0"/>
                <a:cs typeface="Times New Roman" panose="02020603050405020304" pitchFamily="18" charset="0"/>
              </a:rPr>
              <a:t> analysis, leading to unpredictable interference.</a:t>
            </a:r>
          </a:p>
          <a:p>
            <a:pPr>
              <a:lnSpc>
                <a:spcPct val="120000"/>
              </a:lnSpc>
            </a:pPr>
            <a:endParaRPr lang="en-US" altLang="zh-CN" sz="1700" dirty="0">
              <a:latin typeface="Times New Roman" panose="02020603050405020304" pitchFamily="18" charset="0"/>
              <a:cs typeface="Times New Roman" panose="02020603050405020304" pitchFamily="18" charset="0"/>
            </a:endParaRPr>
          </a:p>
          <a:p>
            <a:pPr>
              <a:lnSpc>
                <a:spcPct val="120000"/>
              </a:lnSpc>
            </a:pPr>
            <a:r>
              <a:rPr lang="en-US" altLang="zh-CN" sz="1700" dirty="0">
                <a:latin typeface="Times New Roman" panose="02020603050405020304" pitchFamily="18" charset="0"/>
                <a:cs typeface="Times New Roman" panose="02020603050405020304" pitchFamily="18" charset="0"/>
              </a:rPr>
              <a:t>On the other hand, attackers can exploit race conditions or flood audit buffers to tamper with or drop critical audit events, undermining system security.</a:t>
            </a:r>
          </a:p>
          <a:p>
            <a:pPr>
              <a:lnSpc>
                <a:spcPct val="120000"/>
              </a:lnSpc>
            </a:pPr>
            <a:endParaRPr lang="en-US" altLang="zh-CN" sz="1700" dirty="0">
              <a:latin typeface="Times New Roman" panose="02020603050405020304" pitchFamily="18" charset="0"/>
              <a:cs typeface="Times New Roman" panose="02020603050405020304" pitchFamily="18" charset="0"/>
            </a:endParaRPr>
          </a:p>
          <a:p>
            <a:pPr>
              <a:lnSpc>
                <a:spcPct val="120000"/>
              </a:lnSpc>
            </a:pPr>
            <a:r>
              <a:rPr lang="en-US" altLang="zh-CN" sz="2100" dirty="0">
                <a:latin typeface="Times New Roman" panose="02020603050405020304" pitchFamily="18" charset="0"/>
                <a:cs typeface="Times New Roman" panose="02020603050405020304" pitchFamily="18" charset="0"/>
              </a:rPr>
              <a:t>We propose </a:t>
            </a:r>
            <a:r>
              <a:rPr lang="en-US" altLang="zh-CN" sz="2100" b="1" dirty="0">
                <a:latin typeface="Times New Roman" panose="02020603050405020304" pitchFamily="18" charset="0"/>
                <a:cs typeface="Times New Roman" panose="02020603050405020304" pitchFamily="18" charset="0"/>
              </a:rPr>
              <a:t>RT‑NODROP</a:t>
            </a:r>
            <a:r>
              <a:rPr lang="en-US" altLang="zh-CN" sz="2100" dirty="0">
                <a:latin typeface="Times New Roman" panose="02020603050405020304" pitchFamily="18" charset="0"/>
                <a:cs typeface="Times New Roman" panose="02020603050405020304" pitchFamily="18" charset="0"/>
              </a:rPr>
              <a:t>, which employs a periodic, </a:t>
            </a:r>
            <a:r>
              <a:rPr lang="en-US" altLang="zh-CN" sz="2100" dirty="0" err="1">
                <a:latin typeface="Times New Roman" panose="02020603050405020304" pitchFamily="18" charset="0"/>
                <a:cs typeface="Times New Roman" panose="02020603050405020304" pitchFamily="18" charset="0"/>
              </a:rPr>
              <a:t>threadlet</a:t>
            </a:r>
            <a:r>
              <a:rPr lang="en-US" altLang="zh-CN" sz="2100" dirty="0">
                <a:latin typeface="Times New Roman" panose="02020603050405020304" pitchFamily="18" charset="0"/>
                <a:cs typeface="Times New Roman" panose="02020603050405020304" pitchFamily="18" charset="0"/>
              </a:rPr>
              <a:t>-based design and integrates with Response Time Analysis to simultaneously achieve security and real-time guarantees.</a:t>
            </a:r>
          </a:p>
          <a:p>
            <a:pPr>
              <a:lnSpc>
                <a:spcPct val="120000"/>
              </a:lnSpc>
            </a:pPr>
            <a:endParaRPr lang="en-US" altLang="zh-CN" sz="2100" dirty="0">
              <a:latin typeface="Times New Roman" panose="02020603050405020304" pitchFamily="18" charset="0"/>
              <a:cs typeface="Times New Roman" panose="02020603050405020304" pitchFamily="18" charset="0"/>
            </a:endParaRPr>
          </a:p>
          <a:p>
            <a:pPr>
              <a:lnSpc>
                <a:spcPct val="120000"/>
              </a:lnSpc>
            </a:pPr>
            <a:r>
              <a:rPr lang="en-US" altLang="zh-CN" sz="2100" dirty="0">
                <a:latin typeface="Times New Roman" panose="02020603050405020304" pitchFamily="18" charset="0"/>
                <a:cs typeface="Times New Roman" panose="02020603050405020304" pitchFamily="18" charset="0"/>
              </a:rPr>
              <a:t>RT‑NODROP improves </a:t>
            </a:r>
            <a:r>
              <a:rPr lang="en-US" altLang="zh-CN" sz="2100" dirty="0" err="1">
                <a:latin typeface="Times New Roman" panose="02020603050405020304" pitchFamily="18" charset="0"/>
                <a:cs typeface="Times New Roman" panose="02020603050405020304" pitchFamily="18" charset="0"/>
              </a:rPr>
              <a:t>schedulability</a:t>
            </a:r>
            <a:r>
              <a:rPr lang="en-US" altLang="zh-CN" sz="2100" dirty="0">
                <a:latin typeface="Times New Roman" panose="02020603050405020304" pitchFamily="18" charset="0"/>
                <a:cs typeface="Times New Roman" panose="02020603050405020304" pitchFamily="18" charset="0"/>
              </a:rPr>
              <a:t> by up to 117.9% and reduces Redis tail latency by up to 5.02× compared to state‑of‑the‑art frameworks (</a:t>
            </a:r>
            <a:r>
              <a:rPr lang="en-US" altLang="zh-CN" sz="2100" dirty="0" err="1">
                <a:latin typeface="Times New Roman" panose="02020603050405020304" pitchFamily="18" charset="0"/>
                <a:cs typeface="Times New Roman" panose="02020603050405020304" pitchFamily="18" charset="0"/>
              </a:rPr>
              <a:t>Sysdig</a:t>
            </a:r>
            <a:r>
              <a:rPr lang="en-US" altLang="zh-CN" sz="2100" dirty="0">
                <a:latin typeface="Times New Roman" panose="02020603050405020304" pitchFamily="18" charset="0"/>
                <a:cs typeface="Times New Roman" panose="02020603050405020304" pitchFamily="18" charset="0"/>
              </a:rPr>
              <a:t>, OMNILOG, Ellipsis).</a:t>
            </a:r>
            <a:endParaRPr lang="en" altLang="zh-CN" sz="21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a:extLst>
              <a:ext uri="{FF2B5EF4-FFF2-40B4-BE49-F238E27FC236}">
                <a16:creationId xmlns:a16="http://schemas.microsoft.com/office/drawing/2014/main" id="{0F1EF4B4-A94A-D281-83C3-C3C7CD10F2B1}"/>
              </a:ext>
            </a:extLst>
          </p:cNvPr>
          <p:cNvSpPr>
            <a:spLocks noGrp="1"/>
          </p:cNvSpPr>
          <p:nvPr>
            <p:ph type="sldNum" sz="quarter" idx="5"/>
          </p:nvPr>
        </p:nvSpPr>
        <p:spPr/>
        <p:txBody>
          <a:bodyPr/>
          <a:lstStyle/>
          <a:p>
            <a:fld id="{892C80A3-2054-614E-BDEF-CCBE431BBF08}" type="slidenum">
              <a:rPr kumimoji="1" lang="zh-CN" altLang="en-US" smtClean="0"/>
              <a:t>20</a:t>
            </a:fld>
            <a:endParaRPr kumimoji="1" lang="zh-CN" altLang="en-US"/>
          </a:p>
        </p:txBody>
      </p:sp>
    </p:spTree>
    <p:extLst>
      <p:ext uri="{BB962C8B-B14F-4D97-AF65-F5344CB8AC3E}">
        <p14:creationId xmlns:p14="http://schemas.microsoft.com/office/powerpoint/2010/main" val="784723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7" name="直接连接符 121">
            <a:extLst>
              <a:ext uri="{FF2B5EF4-FFF2-40B4-BE49-F238E27FC236}">
                <a16:creationId xmlns:a16="http://schemas.microsoft.com/office/drawing/2014/main" id="{7EC61BF5-0828-A54A-BEF5-615E6301F50F}"/>
              </a:ext>
            </a:extLst>
          </p:cNvPr>
          <p:cNvCxnSpPr>
            <a:cxnSpLocks/>
          </p:cNvCxnSpPr>
          <p:nvPr userDrawn="1"/>
        </p:nvCxnSpPr>
        <p:spPr>
          <a:xfrm>
            <a:off x="438150" y="638280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灯片编号占位符 8">
            <a:extLst>
              <a:ext uri="{FF2B5EF4-FFF2-40B4-BE49-F238E27FC236}">
                <a16:creationId xmlns:a16="http://schemas.microsoft.com/office/drawing/2014/main" id="{ECE78777-757A-C545-B908-18C0EAB3FDD1}"/>
              </a:ext>
            </a:extLst>
          </p:cNvPr>
          <p:cNvSpPr txBox="1">
            <a:spLocks/>
          </p:cNvSpPr>
          <p:nvPr userDrawn="1"/>
        </p:nvSpPr>
        <p:spPr>
          <a:xfrm>
            <a:off x="9005791" y="6393600"/>
            <a:ext cx="2743200" cy="292196"/>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9" name="标题 1">
            <a:extLst>
              <a:ext uri="{FF2B5EF4-FFF2-40B4-BE49-F238E27FC236}">
                <a16:creationId xmlns:a16="http://schemas.microsoft.com/office/drawing/2014/main" id="{CF816C7A-C345-E249-B39F-3E62929443A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4D7D2B"/>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0" name="组合 9">
            <a:extLst>
              <a:ext uri="{FF2B5EF4-FFF2-40B4-BE49-F238E27FC236}">
                <a16:creationId xmlns:a16="http://schemas.microsoft.com/office/drawing/2014/main" id="{B50EC584-9918-1145-897A-A4B1B7628AEC}"/>
              </a:ext>
            </a:extLst>
          </p:cNvPr>
          <p:cNvGrpSpPr/>
          <p:nvPr userDrawn="1"/>
        </p:nvGrpSpPr>
        <p:grpSpPr>
          <a:xfrm>
            <a:off x="528706" y="867990"/>
            <a:ext cx="2433027" cy="0"/>
            <a:chOff x="7460343" y="1311756"/>
            <a:chExt cx="2433027" cy="0"/>
          </a:xfrm>
        </p:grpSpPr>
        <p:cxnSp>
          <p:nvCxnSpPr>
            <p:cNvPr id="11" name="直接连接符 177">
              <a:extLst>
                <a:ext uri="{FF2B5EF4-FFF2-40B4-BE49-F238E27FC236}">
                  <a16:creationId xmlns:a16="http://schemas.microsoft.com/office/drawing/2014/main" id="{CFC4AB46-54E7-EC4B-B736-99C6BC856112}"/>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78">
              <a:extLst>
                <a:ext uri="{FF2B5EF4-FFF2-40B4-BE49-F238E27FC236}">
                  <a16:creationId xmlns:a16="http://schemas.microsoft.com/office/drawing/2014/main" id="{E72D3183-5D5E-A445-BCD4-3E606A7727C7}"/>
                </a:ext>
              </a:extLst>
            </p:cNvPr>
            <p:cNvCxnSpPr>
              <a:cxnSpLocks/>
            </p:cNvCxnSpPr>
            <p:nvPr/>
          </p:nvCxnSpPr>
          <p:spPr>
            <a:xfrm>
              <a:off x="7460343" y="1311756"/>
              <a:ext cx="589713" cy="0"/>
            </a:xfrm>
            <a:prstGeom prst="line">
              <a:avLst/>
            </a:prstGeom>
            <a:ln w="38100">
              <a:solidFill>
                <a:srgbClr val="4D7D2B"/>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09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81784-3CC1-BC42-A323-BE6D81146D9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6F130EC-0CAD-5241-A6F9-31B1C5F9E7C3}"/>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98625CF-34AE-584C-AD9E-D77671F15099}"/>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5" name="页脚占位符 4">
            <a:extLst>
              <a:ext uri="{FF2B5EF4-FFF2-40B4-BE49-F238E27FC236}">
                <a16:creationId xmlns:a16="http://schemas.microsoft.com/office/drawing/2014/main" id="{47E72EA2-B759-5545-AF9A-34462CBC6F0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563AA68-5891-9247-8303-C539B4CD8A1A}"/>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dirty="0"/>
          </a:p>
        </p:txBody>
      </p:sp>
    </p:spTree>
    <p:extLst>
      <p:ext uri="{BB962C8B-B14F-4D97-AF65-F5344CB8AC3E}">
        <p14:creationId xmlns:p14="http://schemas.microsoft.com/office/powerpoint/2010/main" val="1648172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35C5F-1426-6B4E-B017-14DC61D006A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B9D03AA-111E-AE40-A1CB-4BA4263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4AE501C-825C-8A4F-9220-5BB7D832ABBA}"/>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5" name="页脚占位符 4">
            <a:extLst>
              <a:ext uri="{FF2B5EF4-FFF2-40B4-BE49-F238E27FC236}">
                <a16:creationId xmlns:a16="http://schemas.microsoft.com/office/drawing/2014/main" id="{D597B84A-6438-D04D-9972-E54B299483D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B16C8D-3EB0-8A49-A394-0E335A257BD7}"/>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74832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067D60-7960-1348-9BB5-D43139816C0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E51C58D-1D14-5B41-8CFB-21EFD40E341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4282C09D-B24E-DE4A-9CF6-7D57A7EE18D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A271506-1B32-F242-B6F1-83382F6AD016}"/>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6" name="页脚占位符 5">
            <a:extLst>
              <a:ext uri="{FF2B5EF4-FFF2-40B4-BE49-F238E27FC236}">
                <a16:creationId xmlns:a16="http://schemas.microsoft.com/office/drawing/2014/main" id="{07D57F75-111D-3A4A-A4F6-CDA9D12F9A4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911CB04-60A6-0544-9C70-DD7D7D27C865}"/>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2116131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7E73A-06D6-164F-BBC5-AAC27569EBA5}"/>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4D8F2B2-7467-324E-BD0D-8E6EB9263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2AD46D14-CCBE-8944-946E-34F9863E2C69}"/>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1B1D7864-C02A-D041-B4EC-5C15E4CB5F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CFFB242-488C-D948-982A-54676F551A69}"/>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5030720-D45A-D541-B202-A2525FF44D1E}"/>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8" name="页脚占位符 7">
            <a:extLst>
              <a:ext uri="{FF2B5EF4-FFF2-40B4-BE49-F238E27FC236}">
                <a16:creationId xmlns:a16="http://schemas.microsoft.com/office/drawing/2014/main" id="{ABA08B90-7AA8-6A4E-83D0-ADE85D86EC2F}"/>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6CAED1DC-CCC3-FB44-87D9-112EA81F1835}"/>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2589544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DC8378-AAC1-234B-94EF-4328BD7A411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5ADDB427-EFB2-054D-92B8-6511EEAF4E11}"/>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4" name="页脚占位符 3">
            <a:extLst>
              <a:ext uri="{FF2B5EF4-FFF2-40B4-BE49-F238E27FC236}">
                <a16:creationId xmlns:a16="http://schemas.microsoft.com/office/drawing/2014/main" id="{8E857B59-6780-6448-85BB-E2BA70F95D8D}"/>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0A7F53F-BED2-1545-86FC-2A308F74A55C}"/>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712931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646CC19-E8FC-5F4F-A272-AC0DC33AB7A6}"/>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3" name="页脚占位符 2">
            <a:extLst>
              <a:ext uri="{FF2B5EF4-FFF2-40B4-BE49-F238E27FC236}">
                <a16:creationId xmlns:a16="http://schemas.microsoft.com/office/drawing/2014/main" id="{DB76BA89-A0CB-6448-BD3D-E54D7630CCA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571F33E-EC6E-1F4B-8A79-276DEA38423A}"/>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1731435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B8585-5E25-924B-A854-722C4F15A3D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3D9BA9E-9BE1-BF42-8DF1-39E6A2949D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2E0E941-AFC7-AD46-9440-D5C23BF28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C4DCF69-FB4D-E842-AD41-8BADF1C253D4}"/>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6" name="页脚占位符 5">
            <a:extLst>
              <a:ext uri="{FF2B5EF4-FFF2-40B4-BE49-F238E27FC236}">
                <a16:creationId xmlns:a16="http://schemas.microsoft.com/office/drawing/2014/main" id="{030911F5-743D-6740-9B29-4FD735CB9FD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A98F229-EE84-5346-B932-76A417B460D0}"/>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1660225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C12403-307A-2F44-A3DF-08665337DEF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2E64CC0-141E-E04C-916C-71AF055433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551B1A7-EAEA-D849-8A6A-8CB9BFDD3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988CD5C-C2DE-DF4D-AB55-D5BB8F8785F5}"/>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6" name="页脚占位符 5">
            <a:extLst>
              <a:ext uri="{FF2B5EF4-FFF2-40B4-BE49-F238E27FC236}">
                <a16:creationId xmlns:a16="http://schemas.microsoft.com/office/drawing/2014/main" id="{B627BE6F-A5FB-4547-A7F8-012D977AEB7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F061163-C3AC-0347-96E5-CE79EF028649}"/>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197180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13188B-FC21-3546-83D0-D915A5E8428F}"/>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92CCE8-79A8-6B4B-B174-B4D0B1A2281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736C4E-5E55-8F49-8991-C5F683B65253}"/>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5" name="页脚占位符 4">
            <a:extLst>
              <a:ext uri="{FF2B5EF4-FFF2-40B4-BE49-F238E27FC236}">
                <a16:creationId xmlns:a16="http://schemas.microsoft.com/office/drawing/2014/main" id="{0AE69726-B1BA-6C43-B093-76C4B3A3A9E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A904186-1010-D74E-9F37-F843A710F91D}"/>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1144529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28B3B88-6832-3E41-A4D6-7C751887C60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38F4725-32C4-994A-888D-5D53D855C8E2}"/>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F585AB2-15DC-1F42-A970-C1C647E4CA23}"/>
              </a:ext>
            </a:extLst>
          </p:cNvPr>
          <p:cNvSpPr>
            <a:spLocks noGrp="1"/>
          </p:cNvSpPr>
          <p:nvPr>
            <p:ph type="dt" sz="half" idx="10"/>
          </p:nvPr>
        </p:nvSpPr>
        <p:spPr/>
        <p:txBody>
          <a:bodyPr/>
          <a:lstStyle/>
          <a:p>
            <a:fld id="{68710AAD-158F-854E-A754-E993EE32A081}" type="datetimeFigureOut">
              <a:rPr kumimoji="1" lang="zh-CN" altLang="en-US" smtClean="0"/>
              <a:t>2026/7/7</a:t>
            </a:fld>
            <a:endParaRPr kumimoji="1" lang="zh-CN" altLang="en-US"/>
          </a:p>
        </p:txBody>
      </p:sp>
      <p:sp>
        <p:nvSpPr>
          <p:cNvPr id="5" name="页脚占位符 4">
            <a:extLst>
              <a:ext uri="{FF2B5EF4-FFF2-40B4-BE49-F238E27FC236}">
                <a16:creationId xmlns:a16="http://schemas.microsoft.com/office/drawing/2014/main" id="{8770F6FA-CCF7-AB49-8765-4A42C30CEA4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99330AF-A908-D344-81B9-3DA085E84DE5}"/>
              </a:ext>
            </a:extLst>
          </p:cNvPr>
          <p:cNvSpPr>
            <a:spLocks noGrp="1"/>
          </p:cNvSpPr>
          <p:nvPr>
            <p:ph type="sldNum" sz="quarter" idx="12"/>
          </p:nvPr>
        </p:nvSpPr>
        <p:spPr/>
        <p:txBody>
          <a:body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1388241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DA9FFA1-EF34-FB43-8D3E-7B4E75072C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4C16B17-EC47-964C-9A4C-69C92209CE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510464F-A8B4-9A47-812E-598317875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10AAD-158F-854E-A754-E993EE32A081}" type="datetimeFigureOut">
              <a:rPr kumimoji="1" lang="zh-CN" altLang="en-US" smtClean="0"/>
              <a:t>2026/7/7</a:t>
            </a:fld>
            <a:endParaRPr kumimoji="1" lang="zh-CN" altLang="en-US"/>
          </a:p>
        </p:txBody>
      </p:sp>
      <p:sp>
        <p:nvSpPr>
          <p:cNvPr id="5" name="页脚占位符 4">
            <a:extLst>
              <a:ext uri="{FF2B5EF4-FFF2-40B4-BE49-F238E27FC236}">
                <a16:creationId xmlns:a16="http://schemas.microsoft.com/office/drawing/2014/main" id="{A58CB8CB-B995-4B4C-95D4-C2472F9C49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98FC3922-97C6-634E-A6CC-59712FCB90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3D4F5-FCF5-D84B-A8C6-56F9C5B5A85B}" type="slidenum">
              <a:rPr kumimoji="1" lang="zh-CN" altLang="en-US" smtClean="0"/>
              <a:t>‹#›</a:t>
            </a:fld>
            <a:endParaRPr kumimoji="1" lang="zh-CN" altLang="en-US"/>
          </a:p>
        </p:txBody>
      </p:sp>
    </p:spTree>
    <p:extLst>
      <p:ext uri="{BB962C8B-B14F-4D97-AF65-F5344CB8AC3E}">
        <p14:creationId xmlns:p14="http://schemas.microsoft.com/office/powerpoint/2010/main" val="3583607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BA4B38-B840-CA4A-A453-0864147C7E93}"/>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Auditing Framework</a:t>
            </a:r>
            <a:endParaRPr kumimoji="1"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3997EFE1-7496-5440-9935-0AFC09B3ED8B}"/>
              </a:ext>
            </a:extLst>
          </p:cNvPr>
          <p:cNvSpPr txBox="1"/>
          <p:nvPr/>
        </p:nvSpPr>
        <p:spPr>
          <a:xfrm>
            <a:off x="846825" y="1258394"/>
            <a:ext cx="10821433" cy="227041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0000"/>
              </a:lnSpc>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Auditing framework</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is critical operating system security infrastructure for intrusion detection, provenance analysis, compliance verification, and attack reconstruction.</a:t>
            </a:r>
          </a:p>
          <a:p>
            <a:pPr>
              <a:lnSpc>
                <a:spcPct val="12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SoTA:</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Sysdig, OMNILOG, Ellipsis, Linux Audit.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Picture 2" descr="Security Tools for Containers, Kubernetes, and Cloud – Sysdig">
            <a:extLst>
              <a:ext uri="{FF2B5EF4-FFF2-40B4-BE49-F238E27FC236}">
                <a16:creationId xmlns:a16="http://schemas.microsoft.com/office/drawing/2014/main" id="{7A0A388B-4B42-4345-9E91-499DF2783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248" y="4042969"/>
            <a:ext cx="2622709" cy="13790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ind out who Edited Files in Linux - kifarunix.com">
            <a:extLst>
              <a:ext uri="{FF2B5EF4-FFF2-40B4-BE49-F238E27FC236}">
                <a16:creationId xmlns:a16="http://schemas.microsoft.com/office/drawing/2014/main" id="{35BC5E2F-22AE-674F-86DA-78A036F92C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8752" y="4258800"/>
            <a:ext cx="1892126" cy="1033200"/>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BDD1E5D0-1ECA-3341-B056-CE92018208C8}"/>
              </a:ext>
            </a:extLst>
          </p:cNvPr>
          <p:cNvPicPr>
            <a:picLocks noChangeAspect="1"/>
          </p:cNvPicPr>
          <p:nvPr/>
        </p:nvPicPr>
        <p:blipFill>
          <a:blip r:embed="rId5"/>
          <a:stretch>
            <a:fillRect/>
          </a:stretch>
        </p:blipFill>
        <p:spPr>
          <a:xfrm>
            <a:off x="4082802" y="4258743"/>
            <a:ext cx="2369023" cy="1034474"/>
          </a:xfrm>
          <a:prstGeom prst="rect">
            <a:avLst/>
          </a:prstGeom>
        </p:spPr>
      </p:pic>
      <p:grpSp>
        <p:nvGrpSpPr>
          <p:cNvPr id="14" name="组合 13">
            <a:extLst>
              <a:ext uri="{FF2B5EF4-FFF2-40B4-BE49-F238E27FC236}">
                <a16:creationId xmlns:a16="http://schemas.microsoft.com/office/drawing/2014/main" id="{FBFF531E-5A26-9D48-8744-EFD047B6A974}"/>
              </a:ext>
            </a:extLst>
          </p:cNvPr>
          <p:cNvGrpSpPr/>
          <p:nvPr/>
        </p:nvGrpSpPr>
        <p:grpSpPr>
          <a:xfrm>
            <a:off x="7030613" y="4136533"/>
            <a:ext cx="1598231" cy="1607444"/>
            <a:chOff x="6348034" y="4548658"/>
            <a:chExt cx="1237622" cy="1311609"/>
          </a:xfrm>
        </p:grpSpPr>
        <p:pic>
          <p:nvPicPr>
            <p:cNvPr id="11" name="图片 10">
              <a:extLst>
                <a:ext uri="{FF2B5EF4-FFF2-40B4-BE49-F238E27FC236}">
                  <a16:creationId xmlns:a16="http://schemas.microsoft.com/office/drawing/2014/main" id="{7702FD74-C5A0-604D-B2B4-AE7FB796FE77}"/>
                </a:ext>
              </a:extLst>
            </p:cNvPr>
            <p:cNvPicPr>
              <a:picLocks noChangeAspect="1"/>
            </p:cNvPicPr>
            <p:nvPr/>
          </p:nvPicPr>
          <p:blipFill>
            <a:blip r:embed="rId6"/>
            <a:stretch>
              <a:fillRect/>
            </a:stretch>
          </p:blipFill>
          <p:spPr>
            <a:xfrm>
              <a:off x="6509823" y="4548658"/>
              <a:ext cx="934166" cy="822861"/>
            </a:xfrm>
            <a:prstGeom prst="rect">
              <a:avLst/>
            </a:prstGeom>
          </p:spPr>
        </p:pic>
        <p:sp>
          <p:nvSpPr>
            <p:cNvPr id="13" name="矩形 12">
              <a:extLst>
                <a:ext uri="{FF2B5EF4-FFF2-40B4-BE49-F238E27FC236}">
                  <a16:creationId xmlns:a16="http://schemas.microsoft.com/office/drawing/2014/main" id="{A0FED003-AD28-F74A-A956-E1FB9AA9A208}"/>
                </a:ext>
              </a:extLst>
            </p:cNvPr>
            <p:cNvSpPr/>
            <p:nvPr/>
          </p:nvSpPr>
          <p:spPr>
            <a:xfrm>
              <a:off x="6348034" y="5337047"/>
              <a:ext cx="1237622" cy="523220"/>
            </a:xfrm>
            <a:prstGeom prst="rect">
              <a:avLst/>
            </a:prstGeom>
            <a:noFill/>
          </p:spPr>
          <p:txBody>
            <a:bodyPr wrap="square" lIns="91440" tIns="45720" rIns="91440" bIns="45720">
              <a:spAutoFit/>
            </a:bodyPr>
            <a:lstStyle/>
            <a:p>
              <a:pPr algn="ctr"/>
              <a:r>
                <a:rPr lang="en-US" altLang="zh-CN" sz="2800" b="0" i="0" cap="none" spc="0" dirty="0">
                  <a:ln w="0"/>
                  <a:solidFill>
                    <a:schemeClr val="tx1"/>
                  </a:solidFill>
                  <a:effectLst>
                    <a:outerShdw blurRad="38100" dist="19050" dir="2700000" algn="tl" rotWithShape="0">
                      <a:schemeClr val="dk1">
                        <a:alpha val="40000"/>
                      </a:schemeClr>
                    </a:outerShdw>
                  </a:effectLst>
                  <a:latin typeface="Lato" panose="020F0502020204030204" pitchFamily="34" charset="0"/>
                </a:rPr>
                <a:t>Ellipsis</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3318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9C0FB5-DBF5-6641-9F90-56D30056A42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Popular Auditing Frameworks</a:t>
            </a:r>
            <a:endParaRPr kumimoji="1" lang="zh-CN" altLang="en-US" dirty="0"/>
          </a:p>
        </p:txBody>
      </p:sp>
      <p:pic>
        <p:nvPicPr>
          <p:cNvPr id="10" name="图片 9">
            <a:extLst>
              <a:ext uri="{FF2B5EF4-FFF2-40B4-BE49-F238E27FC236}">
                <a16:creationId xmlns:a16="http://schemas.microsoft.com/office/drawing/2014/main" id="{5EE38F10-A9B6-B943-B8E9-562AE9724768}"/>
              </a:ext>
            </a:extLst>
          </p:cNvPr>
          <p:cNvPicPr>
            <a:picLocks noChangeAspect="1"/>
          </p:cNvPicPr>
          <p:nvPr/>
        </p:nvPicPr>
        <p:blipFill rotWithShape="1">
          <a:blip r:embed="rId3"/>
          <a:srcRect l="-1" r="35352"/>
          <a:stretch>
            <a:fillRect/>
          </a:stretch>
        </p:blipFill>
        <p:spPr>
          <a:xfrm>
            <a:off x="855378" y="1096852"/>
            <a:ext cx="10640682" cy="2429544"/>
          </a:xfrm>
          <a:prstGeom prst="rect">
            <a:avLst/>
          </a:prstGeom>
        </p:spPr>
      </p:pic>
      <p:pic>
        <p:nvPicPr>
          <p:cNvPr id="3" name="图片 2">
            <a:extLst>
              <a:ext uri="{FF2B5EF4-FFF2-40B4-BE49-F238E27FC236}">
                <a16:creationId xmlns:a16="http://schemas.microsoft.com/office/drawing/2014/main" id="{4D229FD6-F7EE-31CF-767C-0624EDD36C8F}"/>
              </a:ext>
            </a:extLst>
          </p:cNvPr>
          <p:cNvPicPr>
            <a:picLocks noChangeAspect="1"/>
          </p:cNvPicPr>
          <p:nvPr/>
        </p:nvPicPr>
        <p:blipFill rotWithShape="1">
          <a:blip r:embed="rId3"/>
          <a:srcRect l="64834" r="2289"/>
          <a:stretch>
            <a:fillRect/>
          </a:stretch>
        </p:blipFill>
        <p:spPr>
          <a:xfrm>
            <a:off x="3470086" y="3762162"/>
            <a:ext cx="5411266" cy="2429544"/>
          </a:xfrm>
          <a:prstGeom prst="rect">
            <a:avLst/>
          </a:prstGeom>
        </p:spPr>
      </p:pic>
    </p:spTree>
    <p:extLst>
      <p:ext uri="{BB962C8B-B14F-4D97-AF65-F5344CB8AC3E}">
        <p14:creationId xmlns:p14="http://schemas.microsoft.com/office/powerpoint/2010/main" val="2758708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9C0FB5-DBF5-6641-9F90-56D30056A42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Security Threats on Auditing Frameworks</a:t>
            </a:r>
            <a:endParaRPr kumimoji="1" lang="zh-CN" altLang="en-US" dirty="0"/>
          </a:p>
        </p:txBody>
      </p:sp>
      <p:sp>
        <p:nvSpPr>
          <p:cNvPr id="11" name="TextBox 8">
            <a:extLst>
              <a:ext uri="{FF2B5EF4-FFF2-40B4-BE49-F238E27FC236}">
                <a16:creationId xmlns:a16="http://schemas.microsoft.com/office/drawing/2014/main" id="{36188D64-F32D-064E-A6C3-EA07795E887E}"/>
              </a:ext>
            </a:extLst>
          </p:cNvPr>
          <p:cNvSpPr txBox="1"/>
          <p:nvPr/>
        </p:nvSpPr>
        <p:spPr>
          <a:xfrm>
            <a:off x="485779" y="4819466"/>
            <a:ext cx="11172824" cy="1323439"/>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Race Condition Attack: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An attack can delete audit events generated by malicious processes from the kernel buffers before they have been submitted to the consumer.</a:t>
            </a:r>
          </a:p>
          <a:p>
            <a:pPr marL="342900" indent="-342900">
              <a:buFont typeface="Arial" panose="020B0604020202020204" pitchFamily="34" charset="0"/>
              <a:buChar char="•"/>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Flood Attack: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An attacker can quickly generate a large number of invalid system logs, crowd the log buffer, and cause the subsequent attack log loss. (Also taken as PDoS attack)</a:t>
            </a:r>
          </a:p>
        </p:txBody>
      </p:sp>
      <p:sp>
        <p:nvSpPr>
          <p:cNvPr id="6" name="Rectangle: Rounded Corners 5">
            <a:extLst>
              <a:ext uri="{FF2B5EF4-FFF2-40B4-BE49-F238E27FC236}">
                <a16:creationId xmlns:a16="http://schemas.microsoft.com/office/drawing/2014/main" id="{B8C0D415-805D-B642-86F5-FBB0AB6C6C0D}"/>
              </a:ext>
            </a:extLst>
          </p:cNvPr>
          <p:cNvSpPr/>
          <p:nvPr/>
        </p:nvSpPr>
        <p:spPr>
          <a:xfrm>
            <a:off x="1184222" y="4092339"/>
            <a:ext cx="2310203" cy="3447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Race Condition Attack</a:t>
            </a:r>
            <a:endParaRPr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2306246C-9039-0748-8329-6A2404BD19A3}"/>
              </a:ext>
            </a:extLst>
          </p:cNvPr>
          <p:cNvGrpSpPr/>
          <p:nvPr/>
        </p:nvGrpSpPr>
        <p:grpSpPr>
          <a:xfrm>
            <a:off x="132515" y="1126785"/>
            <a:ext cx="11988045" cy="2925007"/>
            <a:chOff x="132515" y="961895"/>
            <a:chExt cx="11988045" cy="2925007"/>
          </a:xfrm>
        </p:grpSpPr>
        <p:pic>
          <p:nvPicPr>
            <p:cNvPr id="10" name="图片 9">
              <a:extLst>
                <a:ext uri="{FF2B5EF4-FFF2-40B4-BE49-F238E27FC236}">
                  <a16:creationId xmlns:a16="http://schemas.microsoft.com/office/drawing/2014/main" id="{5EE38F10-A9B6-B943-B8E9-562AE9724768}"/>
                </a:ext>
              </a:extLst>
            </p:cNvPr>
            <p:cNvPicPr>
              <a:picLocks noChangeAspect="1"/>
            </p:cNvPicPr>
            <p:nvPr/>
          </p:nvPicPr>
          <p:blipFill rotWithShape="1">
            <a:blip r:embed="rId3"/>
            <a:srcRect l="-1" r="2289"/>
            <a:stretch/>
          </p:blipFill>
          <p:spPr>
            <a:xfrm>
              <a:off x="132515" y="1853023"/>
              <a:ext cx="11988045" cy="1811016"/>
            </a:xfrm>
            <a:prstGeom prst="rect">
              <a:avLst/>
            </a:prstGeom>
          </p:spPr>
        </p:pic>
        <p:sp>
          <p:nvSpPr>
            <p:cNvPr id="3" name="矩形 2">
              <a:extLst>
                <a:ext uri="{FF2B5EF4-FFF2-40B4-BE49-F238E27FC236}">
                  <a16:creationId xmlns:a16="http://schemas.microsoft.com/office/drawing/2014/main" id="{CD47F7DE-D533-4942-B4D6-E1FEB8D54C2D}"/>
                </a:ext>
              </a:extLst>
            </p:cNvPr>
            <p:cNvSpPr/>
            <p:nvPr/>
          </p:nvSpPr>
          <p:spPr>
            <a:xfrm>
              <a:off x="157163" y="3100388"/>
              <a:ext cx="3771900" cy="24288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9" name="下箭头 8">
              <a:extLst>
                <a:ext uri="{FF2B5EF4-FFF2-40B4-BE49-F238E27FC236}">
                  <a16:creationId xmlns:a16="http://schemas.microsoft.com/office/drawing/2014/main" id="{AF31229C-22BF-994D-A551-3E9FC2D3844C}"/>
                </a:ext>
              </a:extLst>
            </p:cNvPr>
            <p:cNvSpPr/>
            <p:nvPr/>
          </p:nvSpPr>
          <p:spPr>
            <a:xfrm rot="10800000">
              <a:off x="3214688" y="3386839"/>
              <a:ext cx="113128" cy="500063"/>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31485D9C-9B13-7A41-83BE-16003B9661C6}"/>
                </a:ext>
              </a:extLst>
            </p:cNvPr>
            <p:cNvSpPr/>
            <p:nvPr/>
          </p:nvSpPr>
          <p:spPr>
            <a:xfrm>
              <a:off x="149902" y="1888761"/>
              <a:ext cx="2038662" cy="55463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3" name="下箭头 12">
              <a:extLst>
                <a:ext uri="{FF2B5EF4-FFF2-40B4-BE49-F238E27FC236}">
                  <a16:creationId xmlns:a16="http://schemas.microsoft.com/office/drawing/2014/main" id="{903A929B-BF81-BC4D-9B3D-50B18142E670}"/>
                </a:ext>
              </a:extLst>
            </p:cNvPr>
            <p:cNvSpPr/>
            <p:nvPr/>
          </p:nvSpPr>
          <p:spPr>
            <a:xfrm>
              <a:off x="1118564" y="1335685"/>
              <a:ext cx="113128" cy="500063"/>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Rectangle: Rounded Corners 5">
              <a:extLst>
                <a:ext uri="{FF2B5EF4-FFF2-40B4-BE49-F238E27FC236}">
                  <a16:creationId xmlns:a16="http://schemas.microsoft.com/office/drawing/2014/main" id="{4D112F8C-5677-4B41-99B2-A5C9CDBF7054}"/>
                </a:ext>
              </a:extLst>
            </p:cNvPr>
            <p:cNvSpPr/>
            <p:nvPr/>
          </p:nvSpPr>
          <p:spPr>
            <a:xfrm>
              <a:off x="441676" y="961895"/>
              <a:ext cx="1417104" cy="3456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Flood Attack</a:t>
              </a:r>
              <a:endParaRPr lang="zh-CN"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358103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9C0FB5-DBF5-6641-9F90-56D30056A42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Existing</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Auditing</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Frameworks</a:t>
            </a:r>
            <a:endParaRPr kumimoji="1" lang="zh-CN" altLang="en-US" dirty="0"/>
          </a:p>
        </p:txBody>
      </p:sp>
      <p:grpSp>
        <p:nvGrpSpPr>
          <p:cNvPr id="15" name="组合 14">
            <a:extLst>
              <a:ext uri="{FF2B5EF4-FFF2-40B4-BE49-F238E27FC236}">
                <a16:creationId xmlns:a16="http://schemas.microsoft.com/office/drawing/2014/main" id="{2306246C-9039-0748-8329-6A2404BD19A3}"/>
              </a:ext>
            </a:extLst>
          </p:cNvPr>
          <p:cNvGrpSpPr/>
          <p:nvPr/>
        </p:nvGrpSpPr>
        <p:grpSpPr>
          <a:xfrm>
            <a:off x="132515" y="2017913"/>
            <a:ext cx="11988045" cy="1811016"/>
            <a:chOff x="132515" y="1853023"/>
            <a:chExt cx="11988045" cy="1811016"/>
          </a:xfrm>
        </p:grpSpPr>
        <p:pic>
          <p:nvPicPr>
            <p:cNvPr id="10" name="图片 9">
              <a:extLst>
                <a:ext uri="{FF2B5EF4-FFF2-40B4-BE49-F238E27FC236}">
                  <a16:creationId xmlns:a16="http://schemas.microsoft.com/office/drawing/2014/main" id="{5EE38F10-A9B6-B943-B8E9-562AE9724768}"/>
                </a:ext>
              </a:extLst>
            </p:cNvPr>
            <p:cNvPicPr>
              <a:picLocks noChangeAspect="1"/>
            </p:cNvPicPr>
            <p:nvPr/>
          </p:nvPicPr>
          <p:blipFill rotWithShape="1">
            <a:blip r:embed="rId3"/>
            <a:srcRect l="-1" r="2289"/>
            <a:stretch/>
          </p:blipFill>
          <p:spPr>
            <a:xfrm>
              <a:off x="132515" y="1853023"/>
              <a:ext cx="11988045" cy="1811016"/>
            </a:xfrm>
            <a:prstGeom prst="rect">
              <a:avLst/>
            </a:prstGeom>
          </p:spPr>
        </p:pic>
        <p:sp>
          <p:nvSpPr>
            <p:cNvPr id="3" name="矩形 2">
              <a:extLst>
                <a:ext uri="{FF2B5EF4-FFF2-40B4-BE49-F238E27FC236}">
                  <a16:creationId xmlns:a16="http://schemas.microsoft.com/office/drawing/2014/main" id="{CD47F7DE-D533-4942-B4D6-E1FEB8D54C2D}"/>
                </a:ext>
              </a:extLst>
            </p:cNvPr>
            <p:cNvSpPr/>
            <p:nvPr/>
          </p:nvSpPr>
          <p:spPr>
            <a:xfrm>
              <a:off x="157163" y="3100388"/>
              <a:ext cx="3771900" cy="24288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2" name="矩形 11">
              <a:extLst>
                <a:ext uri="{FF2B5EF4-FFF2-40B4-BE49-F238E27FC236}">
                  <a16:creationId xmlns:a16="http://schemas.microsoft.com/office/drawing/2014/main" id="{31485D9C-9B13-7A41-83BE-16003B9661C6}"/>
                </a:ext>
              </a:extLst>
            </p:cNvPr>
            <p:cNvSpPr/>
            <p:nvPr/>
          </p:nvSpPr>
          <p:spPr>
            <a:xfrm>
              <a:off x="149902" y="1888761"/>
              <a:ext cx="2038662" cy="55463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grpSp>
      <p:sp>
        <p:nvSpPr>
          <p:cNvPr id="17" name="矩形: 圆角 5">
            <a:extLst>
              <a:ext uri="{FF2B5EF4-FFF2-40B4-BE49-F238E27FC236}">
                <a16:creationId xmlns:a16="http://schemas.microsoft.com/office/drawing/2014/main" id="{DCB7826D-19CD-5544-A1FA-4B79C58CAA33}"/>
              </a:ext>
            </a:extLst>
          </p:cNvPr>
          <p:cNvSpPr/>
          <p:nvPr/>
        </p:nvSpPr>
        <p:spPr>
          <a:xfrm>
            <a:off x="252443" y="4272191"/>
            <a:ext cx="4115276" cy="1708884"/>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err="1">
                <a:solidFill>
                  <a:schemeClr val="tx1"/>
                </a:solidFill>
                <a:latin typeface="Times New Roman" panose="02020603050405020304" pitchFamily="18" charset="0"/>
                <a:cs typeface="Times New Roman" panose="02020603050405020304" pitchFamily="18" charset="0"/>
              </a:rPr>
              <a:t>Sysdig</a:t>
            </a:r>
            <a:r>
              <a:rPr kumimoji="1" lang="en-US" altLang="zh-CN" sz="2000" b="1" dirty="0">
                <a:solidFill>
                  <a:schemeClr val="tx1"/>
                </a:solidFill>
                <a:latin typeface="Times New Roman" panose="02020603050405020304" pitchFamily="18" charset="0"/>
                <a:cs typeface="Times New Roman" panose="02020603050405020304" pitchFamily="18" charset="0"/>
              </a:rPr>
              <a:t>, Linux </a:t>
            </a:r>
            <a:r>
              <a:rPr kumimoji="1" lang="en-US" altLang="zh-CN" sz="2000" b="1" dirty="0" err="1">
                <a:solidFill>
                  <a:schemeClr val="tx1"/>
                </a:solidFill>
                <a:latin typeface="Times New Roman" panose="02020603050405020304" pitchFamily="18" charset="0"/>
                <a:cs typeface="Times New Roman" panose="02020603050405020304" pitchFamily="18" charset="0"/>
              </a:rPr>
              <a:t>Auditd</a:t>
            </a:r>
            <a:r>
              <a:rPr kumimoji="1" lang="en-US" altLang="zh-CN" sz="2000" b="1" dirty="0">
                <a:solidFill>
                  <a:schemeClr val="tx1"/>
                </a:solidFill>
                <a:latin typeface="Times New Roman" panose="02020603050405020304" pitchFamily="18" charset="0"/>
                <a:cs typeface="Times New Roman" panose="02020603050405020304" pitchFamily="18" charset="0"/>
              </a:rPr>
              <a:t>, Ellipsis:</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Unbounded event residence time</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Event dropping</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Priority inversion</a:t>
            </a:r>
          </a:p>
        </p:txBody>
      </p:sp>
      <p:sp>
        <p:nvSpPr>
          <p:cNvPr id="21" name="文本框 20">
            <a:extLst>
              <a:ext uri="{FF2B5EF4-FFF2-40B4-BE49-F238E27FC236}">
                <a16:creationId xmlns:a16="http://schemas.microsoft.com/office/drawing/2014/main" id="{FAD914D0-114E-F247-8F63-C79B16104FDB}"/>
              </a:ext>
            </a:extLst>
          </p:cNvPr>
          <p:cNvSpPr txBox="1"/>
          <p:nvPr/>
        </p:nvSpPr>
        <p:spPr>
          <a:xfrm>
            <a:off x="74950" y="1191718"/>
            <a:ext cx="5479544" cy="523220"/>
          </a:xfrm>
          <a:prstGeom prst="rect">
            <a:avLst/>
          </a:prstGeom>
          <a:noFill/>
        </p:spPr>
        <p:txBody>
          <a:bodyPr wrap="square" rtlCol="0">
            <a:spAutoFit/>
          </a:bodyPr>
          <a:lstStyle/>
          <a:p>
            <a:r>
              <a:rPr kumimoji="1" lang="en-US" altLang="zh-CN"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Weakness Overview</a:t>
            </a:r>
            <a:endParaRPr kumimoji="1" lang="zh-CN" altLang="en-US"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矩形: 圆角 5">
            <a:extLst>
              <a:ext uri="{FF2B5EF4-FFF2-40B4-BE49-F238E27FC236}">
                <a16:creationId xmlns:a16="http://schemas.microsoft.com/office/drawing/2014/main" id="{4DA007AC-7563-E14F-8F82-1938AA6519E3}"/>
              </a:ext>
            </a:extLst>
          </p:cNvPr>
          <p:cNvSpPr/>
          <p:nvPr/>
        </p:nvSpPr>
        <p:spPr>
          <a:xfrm>
            <a:off x="4604236" y="4271075"/>
            <a:ext cx="3552557" cy="1710000"/>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OMNILOG:</a:t>
            </a:r>
          </a:p>
          <a:p>
            <a:r>
              <a:rPr kumimoji="1" lang="en-US" altLang="zh-CN" sz="2000" dirty="0">
                <a:solidFill>
                  <a:schemeClr val="tx1"/>
                </a:solidFill>
                <a:latin typeface="Times New Roman" panose="02020603050405020304" pitchFamily="18" charset="0"/>
                <a:cs typeface="Times New Roman" panose="02020603050405020304" pitchFamily="18" charset="0"/>
              </a:rPr>
              <a:t>Substantial execution overhead</a:t>
            </a:r>
          </a:p>
          <a:p>
            <a:pPr marL="342900" indent="-342900">
              <a:buFont typeface="Arial" panose="020B0604020202020204" pitchFamily="34" charset="0"/>
              <a:buChar char="•"/>
            </a:pPr>
            <a:r>
              <a:rPr kumimoji="1" lang="en-US" altLang="zh-CN" sz="2000" dirty="0" err="1">
                <a:solidFill>
                  <a:schemeClr val="tx1"/>
                </a:solidFill>
                <a:latin typeface="Times New Roman" panose="02020603050405020304" pitchFamily="18" charset="0"/>
                <a:cs typeface="Times New Roman" panose="02020603050405020304" pitchFamily="18" charset="0"/>
              </a:rPr>
              <a:t>syscall</a:t>
            </a:r>
            <a:r>
              <a:rPr kumimoji="1" lang="en-US" altLang="zh-CN" sz="2000" dirty="0">
                <a:solidFill>
                  <a:schemeClr val="tx1"/>
                </a:solidFill>
                <a:latin typeface="Times New Roman" panose="02020603050405020304" pitchFamily="18" charset="0"/>
                <a:cs typeface="Times New Roman" panose="02020603050405020304" pitchFamily="18" charset="0"/>
              </a:rPr>
              <a:t> overhead,</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virtualization overhead.</a:t>
            </a:r>
          </a:p>
        </p:txBody>
      </p:sp>
      <p:sp>
        <p:nvSpPr>
          <p:cNvPr id="24" name="矩形: 圆角 5">
            <a:extLst>
              <a:ext uri="{FF2B5EF4-FFF2-40B4-BE49-F238E27FC236}">
                <a16:creationId xmlns:a16="http://schemas.microsoft.com/office/drawing/2014/main" id="{D6428090-EF75-5144-8768-DD6C80C5C461}"/>
              </a:ext>
            </a:extLst>
          </p:cNvPr>
          <p:cNvSpPr/>
          <p:nvPr/>
        </p:nvSpPr>
        <p:spPr>
          <a:xfrm>
            <a:off x="8393310" y="4274689"/>
            <a:ext cx="3727250" cy="1708884"/>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NODROP:</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Large consumer interference</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Burst event processing</a:t>
            </a:r>
          </a:p>
          <a:p>
            <a:pPr marL="342900" indent="-342900">
              <a:buFont typeface="Arial" panose="020B0604020202020204" pitchFamily="34" charset="0"/>
              <a:buChar char="•"/>
            </a:pPr>
            <a:r>
              <a:rPr kumimoji="1" lang="en-US" altLang="zh-CN" sz="2000" dirty="0">
                <a:solidFill>
                  <a:schemeClr val="tx1"/>
                </a:solidFill>
                <a:latin typeface="Times New Roman" panose="02020603050405020304" pitchFamily="18" charset="0"/>
                <a:cs typeface="Times New Roman" panose="02020603050405020304" pitchFamily="18" charset="0"/>
              </a:rPr>
              <a:t>Long time residence time.</a:t>
            </a:r>
          </a:p>
        </p:txBody>
      </p:sp>
    </p:spTree>
    <p:extLst>
      <p:ext uri="{BB962C8B-B14F-4D97-AF65-F5344CB8AC3E}">
        <p14:creationId xmlns:p14="http://schemas.microsoft.com/office/powerpoint/2010/main" val="3891133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9C0FB5-DBF5-6641-9F90-56D30056A42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Existing</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Auditing</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Frameworks</a:t>
            </a:r>
            <a:endParaRPr kumimoji="1" lang="zh-CN" altLang="en-US" dirty="0"/>
          </a:p>
        </p:txBody>
      </p:sp>
      <p:grpSp>
        <p:nvGrpSpPr>
          <p:cNvPr id="15" name="组合 14">
            <a:extLst>
              <a:ext uri="{FF2B5EF4-FFF2-40B4-BE49-F238E27FC236}">
                <a16:creationId xmlns:a16="http://schemas.microsoft.com/office/drawing/2014/main" id="{2306246C-9039-0748-8329-6A2404BD19A3}"/>
              </a:ext>
            </a:extLst>
          </p:cNvPr>
          <p:cNvGrpSpPr/>
          <p:nvPr/>
        </p:nvGrpSpPr>
        <p:grpSpPr>
          <a:xfrm>
            <a:off x="132515" y="2017913"/>
            <a:ext cx="11988045" cy="1811016"/>
            <a:chOff x="132515" y="1853023"/>
            <a:chExt cx="11988045" cy="1811016"/>
          </a:xfrm>
        </p:grpSpPr>
        <p:pic>
          <p:nvPicPr>
            <p:cNvPr id="10" name="图片 9">
              <a:extLst>
                <a:ext uri="{FF2B5EF4-FFF2-40B4-BE49-F238E27FC236}">
                  <a16:creationId xmlns:a16="http://schemas.microsoft.com/office/drawing/2014/main" id="{5EE38F10-A9B6-B943-B8E9-562AE9724768}"/>
                </a:ext>
              </a:extLst>
            </p:cNvPr>
            <p:cNvPicPr>
              <a:picLocks noChangeAspect="1"/>
            </p:cNvPicPr>
            <p:nvPr/>
          </p:nvPicPr>
          <p:blipFill rotWithShape="1">
            <a:blip r:embed="rId3"/>
            <a:srcRect l="-1" r="2289"/>
            <a:stretch/>
          </p:blipFill>
          <p:spPr>
            <a:xfrm>
              <a:off x="132515" y="1853023"/>
              <a:ext cx="11988045" cy="1811016"/>
            </a:xfrm>
            <a:prstGeom prst="rect">
              <a:avLst/>
            </a:prstGeom>
          </p:spPr>
        </p:pic>
        <p:sp>
          <p:nvSpPr>
            <p:cNvPr id="3" name="矩形 2">
              <a:extLst>
                <a:ext uri="{FF2B5EF4-FFF2-40B4-BE49-F238E27FC236}">
                  <a16:creationId xmlns:a16="http://schemas.microsoft.com/office/drawing/2014/main" id="{CD47F7DE-D533-4942-B4D6-E1FEB8D54C2D}"/>
                </a:ext>
              </a:extLst>
            </p:cNvPr>
            <p:cNvSpPr/>
            <p:nvPr/>
          </p:nvSpPr>
          <p:spPr>
            <a:xfrm>
              <a:off x="157163" y="3100388"/>
              <a:ext cx="3771900" cy="24288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2" name="矩形 11">
              <a:extLst>
                <a:ext uri="{FF2B5EF4-FFF2-40B4-BE49-F238E27FC236}">
                  <a16:creationId xmlns:a16="http://schemas.microsoft.com/office/drawing/2014/main" id="{31485D9C-9B13-7A41-83BE-16003B9661C6}"/>
                </a:ext>
              </a:extLst>
            </p:cNvPr>
            <p:cNvSpPr/>
            <p:nvPr/>
          </p:nvSpPr>
          <p:spPr>
            <a:xfrm>
              <a:off x="149902" y="1888761"/>
              <a:ext cx="2038662" cy="55463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grpSp>
      <p:sp>
        <p:nvSpPr>
          <p:cNvPr id="17" name="矩形: 圆角 5">
            <a:extLst>
              <a:ext uri="{FF2B5EF4-FFF2-40B4-BE49-F238E27FC236}">
                <a16:creationId xmlns:a16="http://schemas.microsoft.com/office/drawing/2014/main" id="{DCB7826D-19CD-5544-A1FA-4B79C58CAA33}"/>
              </a:ext>
            </a:extLst>
          </p:cNvPr>
          <p:cNvSpPr/>
          <p:nvPr/>
        </p:nvSpPr>
        <p:spPr>
          <a:xfrm>
            <a:off x="252443" y="4272191"/>
            <a:ext cx="3779910" cy="1708884"/>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Sysdig</a:t>
            </a:r>
            <a:r>
              <a:rPr kumimoji="1" lang="en-US" altLang="zh-CN" sz="2000" dirty="0">
                <a:solidFill>
                  <a:schemeClr val="tx1"/>
                </a:solidFill>
                <a:latin typeface="Times New Roman" panose="02020603050405020304" pitchFamily="18" charset="0"/>
                <a:cs typeface="Times New Roman" panose="02020603050405020304" pitchFamily="18" charset="0"/>
              </a:rPr>
              <a:t> </a:t>
            </a:r>
            <a:r>
              <a:rPr kumimoji="1" lang="en-US" altLang="zh-CN" sz="2000" b="1" dirty="0">
                <a:solidFill>
                  <a:schemeClr val="tx1"/>
                </a:solidFill>
                <a:latin typeface="Times New Roman" panose="02020603050405020304" pitchFamily="18" charset="0"/>
                <a:cs typeface="Times New Roman" panose="02020603050405020304" pitchFamily="18" charset="0"/>
              </a:rPr>
              <a:t>&amp;</a:t>
            </a:r>
            <a:r>
              <a:rPr kumimoji="1" lang="en-US" altLang="zh-CN" sz="2000" dirty="0">
                <a:solidFill>
                  <a:schemeClr val="tx1"/>
                </a:solidFill>
                <a:latin typeface="Times New Roman" panose="02020603050405020304" pitchFamily="18" charset="0"/>
                <a:cs typeface="Times New Roman" panose="02020603050405020304" pitchFamily="18" charset="0"/>
              </a:rPr>
              <a:t> </a:t>
            </a:r>
            <a:r>
              <a:rPr kumimoji="1" lang="en-US" altLang="zh-CN" sz="2000" b="1" dirty="0">
                <a:solidFill>
                  <a:schemeClr val="tx1"/>
                </a:solidFill>
                <a:latin typeface="Times New Roman" panose="02020603050405020304" pitchFamily="18" charset="0"/>
                <a:cs typeface="Times New Roman" panose="02020603050405020304" pitchFamily="18" charset="0"/>
              </a:rPr>
              <a:t>Ellipsis:</a:t>
            </a:r>
          </a:p>
          <a:p>
            <a:r>
              <a:rPr kumimoji="1" lang="en-US" altLang="zh-CN" sz="2000" dirty="0">
                <a:solidFill>
                  <a:schemeClr val="tx1"/>
                </a:solidFill>
                <a:latin typeface="Times New Roman" panose="02020603050405020304" pitchFamily="18" charset="0"/>
                <a:cs typeface="Times New Roman" panose="02020603050405020304" pitchFamily="18" charset="0"/>
              </a:rPr>
              <a:t>Priority inversion,</a:t>
            </a:r>
          </a:p>
          <a:p>
            <a:r>
              <a:rPr kumimoji="1" lang="en-US" altLang="zh-CN" sz="2000" dirty="0">
                <a:solidFill>
                  <a:schemeClr val="tx1"/>
                </a:solidFill>
                <a:latin typeface="Times New Roman" panose="02020603050405020304" pitchFamily="18" charset="0"/>
                <a:cs typeface="Times New Roman" panose="02020603050405020304" pitchFamily="18" charset="0"/>
              </a:rPr>
              <a:t>Unbounded event residence time,</a:t>
            </a:r>
          </a:p>
          <a:p>
            <a:r>
              <a:rPr kumimoji="1" lang="en-US" altLang="zh-CN" sz="2000" dirty="0">
                <a:solidFill>
                  <a:schemeClr val="tx1"/>
                </a:solidFill>
                <a:latin typeface="Times New Roman" panose="02020603050405020304" pitchFamily="18" charset="0"/>
                <a:cs typeface="Times New Roman" panose="02020603050405020304" pitchFamily="18" charset="0"/>
              </a:rPr>
              <a:t>Event dropping, queuing delays.</a:t>
            </a:r>
          </a:p>
        </p:txBody>
      </p:sp>
      <p:sp>
        <p:nvSpPr>
          <p:cNvPr id="21" name="文本框 20">
            <a:extLst>
              <a:ext uri="{FF2B5EF4-FFF2-40B4-BE49-F238E27FC236}">
                <a16:creationId xmlns:a16="http://schemas.microsoft.com/office/drawing/2014/main" id="{FAD914D0-114E-F247-8F63-C79B16104FDB}"/>
              </a:ext>
            </a:extLst>
          </p:cNvPr>
          <p:cNvSpPr txBox="1"/>
          <p:nvPr/>
        </p:nvSpPr>
        <p:spPr>
          <a:xfrm>
            <a:off x="74950" y="1191718"/>
            <a:ext cx="1710201" cy="523220"/>
          </a:xfrm>
          <a:prstGeom prst="rect">
            <a:avLst/>
          </a:prstGeom>
          <a:noFill/>
        </p:spPr>
        <p:txBody>
          <a:bodyPr wrap="square" rtlCol="0">
            <a:spAutoFit/>
          </a:bodyPr>
          <a:lstStyle/>
          <a:p>
            <a:r>
              <a:rPr kumimoji="1" lang="en-US" altLang="zh-CN"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Weakness</a:t>
            </a:r>
            <a:endParaRPr kumimoji="1" lang="zh-CN" altLang="en-US"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矩形: 圆角 5">
            <a:extLst>
              <a:ext uri="{FF2B5EF4-FFF2-40B4-BE49-F238E27FC236}">
                <a16:creationId xmlns:a16="http://schemas.microsoft.com/office/drawing/2014/main" id="{4DA007AC-7563-E14F-8F82-1938AA6519E3}"/>
              </a:ext>
            </a:extLst>
          </p:cNvPr>
          <p:cNvSpPr/>
          <p:nvPr/>
        </p:nvSpPr>
        <p:spPr>
          <a:xfrm>
            <a:off x="4437201" y="4271660"/>
            <a:ext cx="3552557" cy="1710000"/>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OMNILOG:</a:t>
            </a:r>
          </a:p>
          <a:p>
            <a:r>
              <a:rPr kumimoji="1" lang="en-US" altLang="zh-CN" sz="2000" dirty="0">
                <a:solidFill>
                  <a:schemeClr val="tx1"/>
                </a:solidFill>
                <a:latin typeface="Times New Roman" panose="02020603050405020304" pitchFamily="18" charset="0"/>
                <a:cs typeface="Times New Roman" panose="02020603050405020304" pitchFamily="18" charset="0"/>
              </a:rPr>
              <a:t>Substantial execution overhead a) syscall overhead,</a:t>
            </a:r>
          </a:p>
          <a:p>
            <a:r>
              <a:rPr kumimoji="1" lang="en-US" altLang="zh-CN" sz="2000" dirty="0">
                <a:solidFill>
                  <a:schemeClr val="tx1"/>
                </a:solidFill>
                <a:latin typeface="Times New Roman" panose="02020603050405020304" pitchFamily="18" charset="0"/>
                <a:cs typeface="Times New Roman" panose="02020603050405020304" pitchFamily="18" charset="0"/>
              </a:rPr>
              <a:t>b) virtualization overhead.</a:t>
            </a:r>
          </a:p>
        </p:txBody>
      </p:sp>
      <p:sp>
        <p:nvSpPr>
          <p:cNvPr id="24" name="矩形: 圆角 5">
            <a:extLst>
              <a:ext uri="{FF2B5EF4-FFF2-40B4-BE49-F238E27FC236}">
                <a16:creationId xmlns:a16="http://schemas.microsoft.com/office/drawing/2014/main" id="{D6428090-EF75-5144-8768-DD6C80C5C461}"/>
              </a:ext>
            </a:extLst>
          </p:cNvPr>
          <p:cNvSpPr/>
          <p:nvPr/>
        </p:nvSpPr>
        <p:spPr>
          <a:xfrm>
            <a:off x="8393310" y="4274689"/>
            <a:ext cx="3537569" cy="1708884"/>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NODROP:</a:t>
            </a:r>
          </a:p>
          <a:p>
            <a:r>
              <a:rPr kumimoji="1" lang="en-US" altLang="zh-CN" sz="2000" dirty="0">
                <a:solidFill>
                  <a:schemeClr val="tx1"/>
                </a:solidFill>
                <a:latin typeface="Times New Roman" panose="02020603050405020304" pitchFamily="18" charset="0"/>
                <a:cs typeface="Times New Roman" panose="02020603050405020304" pitchFamily="18" charset="0"/>
              </a:rPr>
              <a:t>Large consumer interference,</a:t>
            </a:r>
          </a:p>
          <a:p>
            <a:r>
              <a:rPr kumimoji="1" lang="en-US" altLang="zh-CN" sz="2000" dirty="0">
                <a:solidFill>
                  <a:schemeClr val="tx1"/>
                </a:solidFill>
                <a:latin typeface="Times New Roman" panose="02020603050405020304" pitchFamily="18" charset="0"/>
                <a:cs typeface="Times New Roman" panose="02020603050405020304" pitchFamily="18" charset="0"/>
              </a:rPr>
              <a:t>Burst event processing,</a:t>
            </a:r>
          </a:p>
          <a:p>
            <a:r>
              <a:rPr kumimoji="1" lang="en-US" altLang="zh-CN" sz="2000" dirty="0">
                <a:solidFill>
                  <a:schemeClr val="tx1"/>
                </a:solidFill>
                <a:latin typeface="Times New Roman" panose="02020603050405020304" pitchFamily="18" charset="0"/>
                <a:cs typeface="Times New Roman" panose="02020603050405020304" pitchFamily="18" charset="0"/>
              </a:rPr>
              <a:t>Long time residence time.</a:t>
            </a:r>
          </a:p>
        </p:txBody>
      </p:sp>
      <p:sp>
        <p:nvSpPr>
          <p:cNvPr id="11" name="圆角矩形 10">
            <a:extLst>
              <a:ext uri="{FF2B5EF4-FFF2-40B4-BE49-F238E27FC236}">
                <a16:creationId xmlns:a16="http://schemas.microsoft.com/office/drawing/2014/main" id="{301DC5ED-7FED-1F41-B76B-7A84E9433182}"/>
              </a:ext>
            </a:extLst>
          </p:cNvPr>
          <p:cNvSpPr/>
          <p:nvPr/>
        </p:nvSpPr>
        <p:spPr>
          <a:xfrm>
            <a:off x="261121" y="3855652"/>
            <a:ext cx="11859439" cy="2282676"/>
          </a:xfrm>
          <a:prstGeom prst="roundRect">
            <a:avLst/>
          </a:prstGeom>
          <a:solidFill>
            <a:srgbClr val="4D7D2B"/>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a:solidFill>
                  <a:schemeClr val="tx1"/>
                </a:solidFill>
                <a:latin typeface="Times New Roman" panose="02020603050405020304" pitchFamily="18" charset="0"/>
                <a:cs typeface="Times New Roman" panose="02020603050405020304" pitchFamily="18" charset="0"/>
              </a:rPr>
              <a:t>It’s essential for creating a safe, predictable and efficient Auditing Framework</a:t>
            </a:r>
            <a:r>
              <a:rPr kumimoji="1" lang="zh-CN" altLang="en-US" sz="3600" dirty="0">
                <a:solidFill>
                  <a:schemeClr val="tx1"/>
                </a:solidFill>
                <a:latin typeface="Times New Roman" panose="02020603050405020304" pitchFamily="18" charset="0"/>
                <a:cs typeface="Times New Roman" panose="02020603050405020304" pitchFamily="18" charset="0"/>
              </a:rPr>
              <a:t> </a:t>
            </a:r>
            <a:r>
              <a:rPr kumimoji="1" lang="en-US" altLang="zh-CN" sz="3600" dirty="0">
                <a:solidFill>
                  <a:schemeClr val="tx1"/>
                </a:solidFill>
                <a:latin typeface="Times New Roman" panose="02020603050405020304" pitchFamily="18" charset="0"/>
                <a:cs typeface="Times New Roman" panose="02020603050405020304" pitchFamily="18" charset="0"/>
              </a:rPr>
              <a:t>to guarantee</a:t>
            </a:r>
            <a:r>
              <a:rPr kumimoji="1" lang="zh-CN" altLang="en-US" sz="3600" dirty="0">
                <a:solidFill>
                  <a:schemeClr val="tx1"/>
                </a:solidFill>
                <a:latin typeface="Times New Roman" panose="02020603050405020304" pitchFamily="18" charset="0"/>
                <a:cs typeface="Times New Roman" panose="02020603050405020304" pitchFamily="18" charset="0"/>
              </a:rPr>
              <a:t> </a:t>
            </a:r>
            <a:r>
              <a:rPr kumimoji="1" lang="en-US" altLang="zh-CN" sz="3600" dirty="0">
                <a:solidFill>
                  <a:schemeClr val="tx1"/>
                </a:solidFill>
                <a:latin typeface="Times New Roman" panose="02020603050405020304" pitchFamily="18" charset="0"/>
                <a:cs typeface="Times New Roman" panose="02020603050405020304" pitchFamily="18" charset="0"/>
              </a:rPr>
              <a:t>Real-Time performance.</a:t>
            </a:r>
            <a:endParaRPr kumimoji="1" lang="zh-CN" altLang="en-US" sz="3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310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3CD9A-C865-B741-97A8-C5F87935B680}"/>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Research</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Goals</a:t>
            </a:r>
            <a:endParaRPr kumimoji="1" lang="zh-CN" altLang="en-US"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7F27FAC0-D0A9-B542-AF42-02B7C847C6BE}"/>
              </a:ext>
            </a:extLst>
          </p:cNvPr>
          <p:cNvSpPr txBox="1"/>
          <p:nvPr/>
        </p:nvSpPr>
        <p:spPr>
          <a:xfrm>
            <a:off x="442913" y="972382"/>
            <a:ext cx="11519238" cy="498663"/>
          </a:xfrm>
          <a:prstGeom prst="rect">
            <a:avLst/>
          </a:prstGeom>
          <a:noFill/>
        </p:spPr>
        <p:txBody>
          <a:bodyPr wrap="square" rtlCol="0">
            <a:spAutoFit/>
          </a:bodyPr>
          <a:lstStyle/>
          <a:p>
            <a:pPr>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An</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auditing framework for real-time systems needs to match these following goals.</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云形 7">
            <a:extLst>
              <a:ext uri="{FF2B5EF4-FFF2-40B4-BE49-F238E27FC236}">
                <a16:creationId xmlns:a16="http://schemas.microsoft.com/office/drawing/2014/main" id="{F2AE8DDA-9057-8B46-AD85-0EFAD46A64BB}"/>
              </a:ext>
            </a:extLst>
          </p:cNvPr>
          <p:cNvSpPr/>
          <p:nvPr/>
        </p:nvSpPr>
        <p:spPr>
          <a:xfrm>
            <a:off x="834189" y="1621711"/>
            <a:ext cx="3128211" cy="1528011"/>
          </a:xfrm>
          <a:prstGeom prst="cloud">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lphaUcPeriod"/>
            </a:pPr>
            <a:r>
              <a:rPr kumimoji="1" lang="en-US" altLang="zh-CN" sz="1800" b="1" dirty="0">
                <a:solidFill>
                  <a:schemeClr val="tx1"/>
                </a:solidFill>
                <a:latin typeface="Times New Roman" panose="02020603050405020304" pitchFamily="18" charset="0"/>
                <a:cs typeface="Times New Roman" panose="02020603050405020304" pitchFamily="18" charset="0"/>
              </a:rPr>
              <a:t>Event</a:t>
            </a:r>
            <a:r>
              <a:rPr kumimoji="1" lang="zh-CN" altLang="en-US" sz="1800" b="1" dirty="0">
                <a:solidFill>
                  <a:schemeClr val="tx1"/>
                </a:solidFill>
                <a:latin typeface="Times New Roman" panose="02020603050405020304" pitchFamily="18" charset="0"/>
                <a:cs typeface="Times New Roman" panose="02020603050405020304" pitchFamily="18" charset="0"/>
              </a:rPr>
              <a:t> </a:t>
            </a:r>
            <a:r>
              <a:rPr kumimoji="1" lang="en-US" altLang="zh-CN" b="1" dirty="0">
                <a:solidFill>
                  <a:schemeClr val="tx1"/>
                </a:solidFill>
                <a:latin typeface="Times New Roman" panose="02020603050405020304" pitchFamily="18" charset="0"/>
                <a:cs typeface="Times New Roman" panose="02020603050405020304" pitchFamily="18" charset="0"/>
              </a:rPr>
              <a:t>i</a:t>
            </a:r>
            <a:r>
              <a:rPr kumimoji="1" lang="en-US" altLang="zh-CN" sz="1800" b="1" dirty="0">
                <a:solidFill>
                  <a:schemeClr val="tx1"/>
                </a:solidFill>
                <a:latin typeface="Times New Roman" panose="02020603050405020304" pitchFamily="18" charset="0"/>
                <a:cs typeface="Times New Roman" panose="02020603050405020304" pitchFamily="18" charset="0"/>
              </a:rPr>
              <a:t>ntegrity</a:t>
            </a:r>
            <a:endParaRPr kumimoji="1"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9" name="云形 8">
            <a:extLst>
              <a:ext uri="{FF2B5EF4-FFF2-40B4-BE49-F238E27FC236}">
                <a16:creationId xmlns:a16="http://schemas.microsoft.com/office/drawing/2014/main" id="{73A3BF35-4F45-9A41-9D5C-2792A139F733}"/>
              </a:ext>
            </a:extLst>
          </p:cNvPr>
          <p:cNvSpPr/>
          <p:nvPr/>
        </p:nvSpPr>
        <p:spPr>
          <a:xfrm>
            <a:off x="5832764" y="1620982"/>
            <a:ext cx="3048000" cy="1676400"/>
          </a:xfrm>
          <a:prstGeom prst="cloud">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lphaUcPeriod" startAt="2"/>
            </a:pP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Guaranteed schedulability</a:t>
            </a:r>
            <a:endParaRPr kumimoji="1"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10" name="云形 9">
            <a:extLst>
              <a:ext uri="{FF2B5EF4-FFF2-40B4-BE49-F238E27FC236}">
                <a16:creationId xmlns:a16="http://schemas.microsoft.com/office/drawing/2014/main" id="{C126C1F5-FE3C-C74A-898A-9AFF55FB6519}"/>
              </a:ext>
            </a:extLst>
          </p:cNvPr>
          <p:cNvSpPr/>
          <p:nvPr/>
        </p:nvSpPr>
        <p:spPr>
          <a:xfrm>
            <a:off x="2133601" y="4017818"/>
            <a:ext cx="3061854" cy="1745673"/>
          </a:xfrm>
          <a:prstGeom prst="cloud">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lphaUcPeriod" startAt="3"/>
            </a:pP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Bounded event residence time</a:t>
            </a:r>
            <a:endParaRPr kumimoji="1"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11" name="云形 10">
            <a:extLst>
              <a:ext uri="{FF2B5EF4-FFF2-40B4-BE49-F238E27FC236}">
                <a16:creationId xmlns:a16="http://schemas.microsoft.com/office/drawing/2014/main" id="{C96FF599-877A-9F4A-A018-4CC010155798}"/>
              </a:ext>
            </a:extLst>
          </p:cNvPr>
          <p:cNvSpPr/>
          <p:nvPr/>
        </p:nvSpPr>
        <p:spPr>
          <a:xfrm>
            <a:off x="7786255" y="4100947"/>
            <a:ext cx="2687782" cy="1787236"/>
          </a:xfrm>
          <a:prstGeom prst="cloud">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lphaUcPeriod" startAt="4"/>
            </a:pP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Minimized overhead</a:t>
            </a:r>
            <a:endParaRPr kumimoji="1" lang="en-US" altLang="zh-C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3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0DF3D-E289-2ECE-8548-80F1DB8AB1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BD9A8E-76FB-14D4-6274-7587AB4A3D46}"/>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Real-Time Auditing Implementation</a:t>
            </a:r>
            <a:endParaRPr kumimoji="1" lang="zh-CN" altLang="en-US" dirty="0">
              <a:latin typeface="Times New Roman" panose="02020603050405020304" pitchFamily="18" charset="0"/>
              <a:cs typeface="Times New Roman" panose="02020603050405020304" pitchFamily="18" charset="0"/>
            </a:endParaRPr>
          </a:p>
        </p:txBody>
      </p:sp>
      <p:sp>
        <p:nvSpPr>
          <p:cNvPr id="10" name="标题 1">
            <a:extLst>
              <a:ext uri="{FF2B5EF4-FFF2-40B4-BE49-F238E27FC236}">
                <a16:creationId xmlns:a16="http://schemas.microsoft.com/office/drawing/2014/main" id="{5BDAD496-CC37-08A4-B7DE-56E256874633}"/>
              </a:ext>
            </a:extLst>
          </p:cNvPr>
          <p:cNvSpPr txBox="1">
            <a:spLocks/>
          </p:cNvSpPr>
          <p:nvPr/>
        </p:nvSpPr>
        <p:spPr>
          <a:xfrm>
            <a:off x="729809" y="5239033"/>
            <a:ext cx="4932650" cy="6175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2400" b="1" kern="1200" baseline="0" dirty="0">
                <a:solidFill>
                  <a:srgbClr val="4D7D2B"/>
                </a:solidFill>
                <a:latin typeface="Arial" panose="020B0604020202020204" pitchFamily="34" charset="0"/>
                <a:ea typeface="微软雅黑" panose="020B0503020204020204" pitchFamily="34" charset="-122"/>
                <a:cs typeface="+mn-ea"/>
              </a:defRPr>
            </a:lvl1pPr>
          </a:lstStyle>
          <a:p>
            <a:pPr algn="ctr"/>
            <a:r>
              <a:rPr kumimoji="1" lang="en-US" altLang="zh-CN" dirty="0">
                <a:solidFill>
                  <a:srgbClr val="C00000"/>
                </a:solidFill>
                <a:latin typeface="Times New Roman" panose="02020603050405020304" pitchFamily="18" charset="0"/>
                <a:cs typeface="Times New Roman" panose="02020603050405020304" pitchFamily="18" charset="0"/>
              </a:rPr>
              <a:t>NODROP Workflow</a:t>
            </a:r>
            <a:endParaRPr kumimoji="1" lang="en-US" dirty="0">
              <a:solidFill>
                <a:srgbClr val="C00000"/>
              </a:solidFill>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71C98AE8-5FBD-2B40-30D7-13A6F50F400C}"/>
              </a:ext>
            </a:extLst>
          </p:cNvPr>
          <p:cNvSpPr txBox="1"/>
          <p:nvPr/>
        </p:nvSpPr>
        <p:spPr>
          <a:xfrm>
            <a:off x="6067860" y="1915939"/>
            <a:ext cx="4695829" cy="394348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1500" b="1" dirty="0">
                <a:latin typeface="Times New Roman" panose="02020603050405020304" pitchFamily="18" charset="0"/>
                <a:cs typeface="Times New Roman" panose="02020603050405020304" pitchFamily="18" charset="0"/>
              </a:rPr>
              <a:t>S1</a:t>
            </a:r>
            <a:r>
              <a:rPr lang="en-US" altLang="zh-CN" sz="1500" dirty="0">
                <a:latin typeface="Times New Roman" panose="02020603050405020304" pitchFamily="18" charset="0"/>
                <a:cs typeface="Times New Roman" panose="02020603050405020304" pitchFamily="18" charset="0"/>
              </a:rPr>
              <a:t>: The kernel captures a system call (</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 and executes it (</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 System call is </a:t>
            </a:r>
            <a:r>
              <a:rPr lang="en-US" altLang="zh-CN" sz="1500" dirty="0" err="1">
                <a:latin typeface="Times New Roman" panose="02020603050405020304" pitchFamily="18" charset="0"/>
                <a:cs typeface="Times New Roman" panose="02020603050405020304" pitchFamily="18" charset="0"/>
              </a:rPr>
              <a:t>recored</a:t>
            </a:r>
            <a:r>
              <a:rPr lang="en-US" altLang="zh-CN" sz="1500" dirty="0">
                <a:latin typeface="Times New Roman" panose="02020603050405020304" pitchFamily="18" charset="0"/>
                <a:cs typeface="Times New Roman" panose="02020603050405020304" pitchFamily="18" charset="0"/>
              </a:rPr>
              <a:t> in a dedicated in-kernel logging buffer</a:t>
            </a:r>
            <a:r>
              <a:rPr lang="en-US" altLang="zh-CN" sz="1500" b="1" dirty="0">
                <a:latin typeface="Times New Roman" panose="02020603050405020304" pitchFamily="18" charset="0"/>
                <a:cs typeface="Times New Roman" panose="02020603050405020304" pitchFamily="18" charset="0"/>
              </a:rPr>
              <a:t> </a:t>
            </a:r>
            <a:r>
              <a:rPr lang="en-US" altLang="zh-CN" sz="1500" dirty="0">
                <a:latin typeface="Times New Roman" panose="02020603050405020304" pitchFamily="18" charset="0"/>
                <a:cs typeface="Times New Roman" panose="02020603050405020304" pitchFamily="18" charset="0"/>
              </a:rPr>
              <a:t>(</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a:t>
            </a:r>
          </a:p>
          <a:p>
            <a:pPr marL="0" indent="0">
              <a:lnSpc>
                <a:spcPct val="120000"/>
              </a:lnSpc>
              <a:buNone/>
            </a:pPr>
            <a:r>
              <a:rPr lang="en-US" altLang="zh-CN" sz="1500" b="1" dirty="0">
                <a:latin typeface="Times New Roman" panose="02020603050405020304" pitchFamily="18" charset="0"/>
                <a:cs typeface="Times New Roman" panose="02020603050405020304" pitchFamily="18" charset="0"/>
              </a:rPr>
              <a:t>S2</a:t>
            </a:r>
            <a:r>
              <a:rPr lang="en-US" altLang="zh-CN" sz="1500" dirty="0">
                <a:latin typeface="Times New Roman" panose="02020603050405020304" pitchFamily="18" charset="0"/>
                <a:cs typeface="Times New Roman" panose="02020603050405020304" pitchFamily="18" charset="0"/>
              </a:rPr>
              <a:t>: Buffer is not full: returns control to the host thread (</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    Buffer is full or the thread exits: control is passed to the consumer (</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a:t>
            </a:r>
          </a:p>
          <a:p>
            <a:pPr marL="0" indent="0">
              <a:lnSpc>
                <a:spcPct val="120000"/>
              </a:lnSpc>
              <a:buNone/>
            </a:pPr>
            <a:r>
              <a:rPr lang="en-US" altLang="zh-CN" sz="1500" b="1" dirty="0">
                <a:latin typeface="Times New Roman" panose="02020603050405020304" pitchFamily="18" charset="0"/>
                <a:cs typeface="Times New Roman" panose="02020603050405020304" pitchFamily="18" charset="0"/>
              </a:rPr>
              <a:t>S3</a:t>
            </a:r>
            <a:r>
              <a:rPr lang="en-US" altLang="zh-CN" sz="1500" dirty="0">
                <a:latin typeface="Times New Roman" panose="02020603050405020304" pitchFamily="18" charset="0"/>
                <a:cs typeface="Times New Roman" panose="02020603050405020304" pitchFamily="18" charset="0"/>
              </a:rPr>
              <a:t>: Consumer is instrumented into the running thread(</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 </a:t>
            </a:r>
          </a:p>
          <a:p>
            <a:pPr marL="0" indent="0">
              <a:lnSpc>
                <a:spcPct val="120000"/>
              </a:lnSpc>
              <a:buNone/>
            </a:pPr>
            <a:r>
              <a:rPr lang="en-US" altLang="zh-CN" sz="1500" b="1" dirty="0">
                <a:latin typeface="Times New Roman" panose="02020603050405020304" pitchFamily="18" charset="0"/>
                <a:cs typeface="Times New Roman" panose="02020603050405020304" pitchFamily="18" charset="0"/>
              </a:rPr>
              <a:t>S4</a:t>
            </a:r>
            <a:r>
              <a:rPr lang="en-US" altLang="zh-CN" sz="1500" dirty="0">
                <a:latin typeface="Times New Roman" panose="02020603050405020304" pitchFamily="18" charset="0"/>
                <a:cs typeface="Times New Roman" panose="02020603050405020304" pitchFamily="18" charset="0"/>
              </a:rPr>
              <a:t>: Consumer process the transferred provenance data (</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 </a:t>
            </a:r>
          </a:p>
          <a:p>
            <a:pPr marL="0" indent="0">
              <a:lnSpc>
                <a:spcPct val="120000"/>
              </a:lnSpc>
              <a:buNone/>
            </a:pPr>
            <a:r>
              <a:rPr lang="en-US" altLang="zh-CN" sz="1500" b="1" dirty="0">
                <a:latin typeface="Times New Roman" panose="02020603050405020304" pitchFamily="18" charset="0"/>
                <a:cs typeface="Times New Roman" panose="02020603050405020304" pitchFamily="18" charset="0"/>
              </a:rPr>
              <a:t>S5: </a:t>
            </a:r>
            <a:r>
              <a:rPr lang="en-US" altLang="zh-CN" sz="1500" dirty="0">
                <a:latin typeface="Times New Roman" panose="02020603050405020304" pitchFamily="18" charset="0"/>
                <a:cs typeface="Times New Roman" panose="02020603050405020304" pitchFamily="18" charset="0"/>
              </a:rPr>
              <a:t>Control is returned to the original thread (</a:t>
            </a:r>
            <a:r>
              <a:rPr lang="en-US" altLang="zh-CN" sz="15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500" dirty="0">
                <a:latin typeface="Times New Roman" panose="02020603050405020304" pitchFamily="18" charset="0"/>
                <a:cs typeface="Times New Roman" panose="02020603050405020304" pitchFamily="18" charset="0"/>
              </a:rPr>
              <a:t>).</a:t>
            </a:r>
          </a:p>
        </p:txBody>
      </p:sp>
      <p:pic>
        <p:nvPicPr>
          <p:cNvPr id="5" name="图片 1">
            <a:extLst>
              <a:ext uri="{FF2B5EF4-FFF2-40B4-BE49-F238E27FC236}">
                <a16:creationId xmlns:a16="http://schemas.microsoft.com/office/drawing/2014/main" id="{55233686-9CF1-7E73-61B9-A31B934F8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765" y="1618967"/>
            <a:ext cx="4252293" cy="362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59D54346-AC4B-DD50-E067-E76BC96C69C5}"/>
              </a:ext>
            </a:extLst>
          </p:cNvPr>
          <p:cNvSpPr txBox="1"/>
          <p:nvPr/>
        </p:nvSpPr>
        <p:spPr>
          <a:xfrm>
            <a:off x="442913" y="5893775"/>
            <a:ext cx="10134025" cy="400110"/>
          </a:xfrm>
          <a:prstGeom prst="rect">
            <a:avLst/>
          </a:prstGeom>
          <a:noFill/>
        </p:spPr>
        <p:txBody>
          <a:bodyPr wrap="square">
            <a:spAutoFit/>
          </a:bodyPr>
          <a:lstStyle/>
          <a:p>
            <a:r>
              <a:rPr lang="en-US" altLang="zh-CN" sz="1000" b="0" i="0" dirty="0">
                <a:solidFill>
                  <a:srgbClr val="333333"/>
                </a:solidFill>
                <a:effectLst/>
                <a:latin typeface="Times New Roman" panose="02020603050405020304" pitchFamily="18" charset="0"/>
                <a:cs typeface="Times New Roman" panose="02020603050405020304" pitchFamily="18" charset="0"/>
              </a:rPr>
              <a:t>Peng Jiang, Ruizhe Huang, Ding Li, Yao Guo, </a:t>
            </a:r>
            <a:r>
              <a:rPr lang="en-US" altLang="zh-CN" sz="1000" b="0" i="0" dirty="0" err="1">
                <a:solidFill>
                  <a:srgbClr val="333333"/>
                </a:solidFill>
                <a:effectLst/>
                <a:latin typeface="Times New Roman" panose="02020603050405020304" pitchFamily="18" charset="0"/>
                <a:cs typeface="Times New Roman" panose="02020603050405020304" pitchFamily="18" charset="0"/>
              </a:rPr>
              <a:t>Xiangqun</a:t>
            </a:r>
            <a:r>
              <a:rPr lang="en-US" altLang="zh-CN" sz="1000" b="0" i="0" dirty="0">
                <a:solidFill>
                  <a:srgbClr val="333333"/>
                </a:solidFill>
                <a:effectLst/>
                <a:latin typeface="Times New Roman" panose="02020603050405020304" pitchFamily="18" charset="0"/>
                <a:cs typeface="Times New Roman" panose="02020603050405020304" pitchFamily="18" charset="0"/>
              </a:rPr>
              <a:t> Chen, </a:t>
            </a:r>
            <a:r>
              <a:rPr lang="en-US" altLang="zh-CN" sz="1000" b="0" i="0" dirty="0" err="1">
                <a:solidFill>
                  <a:srgbClr val="333333"/>
                </a:solidFill>
                <a:effectLst/>
                <a:latin typeface="Times New Roman" panose="02020603050405020304" pitchFamily="18" charset="0"/>
                <a:cs typeface="Times New Roman" panose="02020603050405020304" pitchFamily="18" charset="0"/>
              </a:rPr>
              <a:t>Jianhai</a:t>
            </a:r>
            <a:r>
              <a:rPr lang="en-US" altLang="zh-CN" sz="1000" b="0" i="0" dirty="0">
                <a:solidFill>
                  <a:srgbClr val="333333"/>
                </a:solidFill>
                <a:effectLst/>
                <a:latin typeface="Times New Roman" panose="02020603050405020304" pitchFamily="18" charset="0"/>
                <a:cs typeface="Times New Roman" panose="02020603050405020304" pitchFamily="18" charset="0"/>
              </a:rPr>
              <a:t> Luan, Yuxin Ren, and </a:t>
            </a:r>
            <a:r>
              <a:rPr lang="en-US" altLang="zh-CN" sz="1000" b="0" i="0" dirty="0" err="1">
                <a:solidFill>
                  <a:srgbClr val="333333"/>
                </a:solidFill>
                <a:effectLst/>
                <a:latin typeface="Times New Roman" panose="02020603050405020304" pitchFamily="18" charset="0"/>
                <a:cs typeface="Times New Roman" panose="02020603050405020304" pitchFamily="18" charset="0"/>
              </a:rPr>
              <a:t>Xinwei</a:t>
            </a:r>
            <a:r>
              <a:rPr lang="en-US" altLang="zh-CN" sz="1000" b="0" i="0" dirty="0">
                <a:solidFill>
                  <a:srgbClr val="333333"/>
                </a:solidFill>
                <a:effectLst/>
                <a:latin typeface="Times New Roman" panose="02020603050405020304" pitchFamily="18" charset="0"/>
                <a:cs typeface="Times New Roman" panose="02020603050405020304" pitchFamily="18" charset="0"/>
              </a:rPr>
              <a:t> Hu. 2023. Auditing frameworks need resource isolation: a systematic study on the super producer threat to system auditing and its mitigation. In Proceedings of the 32nd USENIX Conference on Security Symposium (SEC '23). USENIX Association, USA, Article 21, 355–372.</a:t>
            </a:r>
            <a:endParaRPr lang="zh-CN"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9881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A62AD-2CE0-1A43-8DD4-110EE4750A62}"/>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Real-Time Auditing Implementation</a:t>
            </a:r>
            <a:endParaRPr kumimoji="1" lang="zh-CN" altLang="en-US" dirty="0">
              <a:latin typeface="Times New Roman" panose="02020603050405020304" pitchFamily="18" charset="0"/>
              <a:cs typeface="Times New Roman" panose="02020603050405020304" pitchFamily="18" charset="0"/>
            </a:endParaRPr>
          </a:p>
        </p:txBody>
      </p:sp>
      <p:sp>
        <p:nvSpPr>
          <p:cNvPr id="3" name="矩形: 圆角 5">
            <a:extLst>
              <a:ext uri="{FF2B5EF4-FFF2-40B4-BE49-F238E27FC236}">
                <a16:creationId xmlns:a16="http://schemas.microsoft.com/office/drawing/2014/main" id="{2D1107EB-8370-374F-8BBC-38AE2F51A908}"/>
              </a:ext>
            </a:extLst>
          </p:cNvPr>
          <p:cNvSpPr/>
          <p:nvPr/>
        </p:nvSpPr>
        <p:spPr>
          <a:xfrm>
            <a:off x="5720400" y="4170217"/>
            <a:ext cx="5195456" cy="1371599"/>
          </a:xfrm>
          <a:prstGeom prst="roundRect">
            <a:avLst/>
          </a:prstGeom>
          <a:solidFill>
            <a:srgbClr val="C00000">
              <a:alpha val="20000"/>
            </a:srgbClr>
          </a:solid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Periodic consumer invocation.</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Bounded consumer WCET.</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Bounded event residence time.</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Bounded kernel buffer memory usage. </a:t>
            </a:r>
          </a:p>
        </p:txBody>
      </p:sp>
      <p:pic>
        <p:nvPicPr>
          <p:cNvPr id="8" name="图片 7">
            <a:extLst>
              <a:ext uri="{FF2B5EF4-FFF2-40B4-BE49-F238E27FC236}">
                <a16:creationId xmlns:a16="http://schemas.microsoft.com/office/drawing/2014/main" id="{4B586E1B-F973-5A4A-8590-92D62550E7B7}"/>
              </a:ext>
            </a:extLst>
          </p:cNvPr>
          <p:cNvPicPr>
            <a:picLocks noChangeAspect="1"/>
          </p:cNvPicPr>
          <p:nvPr/>
        </p:nvPicPr>
        <p:blipFill>
          <a:blip r:embed="rId3"/>
          <a:stretch>
            <a:fillRect/>
          </a:stretch>
        </p:blipFill>
        <p:spPr>
          <a:xfrm>
            <a:off x="193964" y="1537854"/>
            <a:ext cx="5413615" cy="4005117"/>
          </a:xfrm>
          <a:prstGeom prst="rect">
            <a:avLst/>
          </a:prstGeom>
        </p:spPr>
      </p:pic>
      <p:sp>
        <p:nvSpPr>
          <p:cNvPr id="9" name="矩形 8">
            <a:extLst>
              <a:ext uri="{FF2B5EF4-FFF2-40B4-BE49-F238E27FC236}">
                <a16:creationId xmlns:a16="http://schemas.microsoft.com/office/drawing/2014/main" id="{3CDB88D4-EA21-364E-B83A-09E74EE17878}"/>
              </a:ext>
            </a:extLst>
          </p:cNvPr>
          <p:cNvSpPr/>
          <p:nvPr/>
        </p:nvSpPr>
        <p:spPr>
          <a:xfrm>
            <a:off x="1330036" y="4239491"/>
            <a:ext cx="1925782" cy="102523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0" name="标题 1">
            <a:extLst>
              <a:ext uri="{FF2B5EF4-FFF2-40B4-BE49-F238E27FC236}">
                <a16:creationId xmlns:a16="http://schemas.microsoft.com/office/drawing/2014/main" id="{2E104CC0-799A-3E4F-9DF9-340D79EB5995}"/>
              </a:ext>
            </a:extLst>
          </p:cNvPr>
          <p:cNvSpPr txBox="1">
            <a:spLocks/>
          </p:cNvSpPr>
          <p:nvPr/>
        </p:nvSpPr>
        <p:spPr>
          <a:xfrm>
            <a:off x="664587" y="5536005"/>
            <a:ext cx="4932650" cy="6175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2400" b="1" kern="1200" baseline="0" dirty="0">
                <a:solidFill>
                  <a:srgbClr val="4D7D2B"/>
                </a:solidFill>
                <a:latin typeface="Arial" panose="020B0604020202020204" pitchFamily="34" charset="0"/>
                <a:ea typeface="微软雅黑" panose="020B0503020204020204" pitchFamily="34" charset="-122"/>
                <a:cs typeface="+mn-ea"/>
              </a:defRPr>
            </a:lvl1pPr>
          </a:lstStyle>
          <a:p>
            <a:pPr algn="ctr"/>
            <a:r>
              <a:rPr kumimoji="1" lang="en-US" altLang="zh-CN" dirty="0">
                <a:solidFill>
                  <a:srgbClr val="C00000"/>
                </a:solidFill>
                <a:latin typeface="Times New Roman" panose="02020603050405020304" pitchFamily="18" charset="0"/>
                <a:cs typeface="Times New Roman" panose="02020603050405020304" pitchFamily="18" charset="0"/>
              </a:rPr>
              <a:t>RT-NODROP  Workflow</a:t>
            </a:r>
            <a:endParaRPr kumimoji="1" lang="en-US" dirty="0">
              <a:solidFill>
                <a:srgbClr val="C00000"/>
              </a:solidFill>
              <a:latin typeface="Times New Roman" panose="02020603050405020304" pitchFamily="18" charset="0"/>
              <a:cs typeface="Times New Roman" panose="02020603050405020304" pitchFamily="18" charset="0"/>
            </a:endParaRPr>
          </a:p>
        </p:txBody>
      </p:sp>
      <p:sp>
        <p:nvSpPr>
          <p:cNvPr id="11" name="八角星 10">
            <a:extLst>
              <a:ext uri="{FF2B5EF4-FFF2-40B4-BE49-F238E27FC236}">
                <a16:creationId xmlns:a16="http://schemas.microsoft.com/office/drawing/2014/main" id="{245B08BE-FC12-7A43-950D-E0534E06C393}"/>
              </a:ext>
            </a:extLst>
          </p:cNvPr>
          <p:cNvSpPr>
            <a:spLocks noChangeAspect="1"/>
          </p:cNvSpPr>
          <p:nvPr/>
        </p:nvSpPr>
        <p:spPr>
          <a:xfrm>
            <a:off x="5791200" y="3366658"/>
            <a:ext cx="554519" cy="554182"/>
          </a:xfrm>
          <a:prstGeom prst="star8">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latin typeface="Times New Roman" panose="02020603050405020304" pitchFamily="18" charset="0"/>
                <a:cs typeface="Times New Roman" panose="02020603050405020304" pitchFamily="18" charset="0"/>
              </a:rPr>
              <a:t>I</a:t>
            </a:r>
            <a:endParaRPr kumimoji="1" lang="zh-CN" alt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281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A62AD-2CE0-1A43-8DD4-110EE4750A62}"/>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Real-Time Auditing Implementation</a:t>
            </a:r>
            <a:endParaRPr kumimoji="1" lang="zh-CN" altLang="en-US" dirty="0">
              <a:latin typeface="Times New Roman" panose="02020603050405020304" pitchFamily="18" charset="0"/>
              <a:cs typeface="Times New Roman" panose="02020603050405020304" pitchFamily="18" charset="0"/>
            </a:endParaRPr>
          </a:p>
        </p:txBody>
      </p:sp>
      <p:sp>
        <p:nvSpPr>
          <p:cNvPr id="3" name="矩形: 圆角 5">
            <a:extLst>
              <a:ext uri="{FF2B5EF4-FFF2-40B4-BE49-F238E27FC236}">
                <a16:creationId xmlns:a16="http://schemas.microsoft.com/office/drawing/2014/main" id="{2D1107EB-8370-374F-8BBC-38AE2F51A908}"/>
              </a:ext>
            </a:extLst>
          </p:cNvPr>
          <p:cNvSpPr/>
          <p:nvPr/>
        </p:nvSpPr>
        <p:spPr>
          <a:xfrm>
            <a:off x="5720400" y="3851563"/>
            <a:ext cx="5195456" cy="1676401"/>
          </a:xfrm>
          <a:prstGeom prst="roundRect">
            <a:avLst/>
          </a:prstGeom>
          <a:solidFill>
            <a:srgbClr val="C00000">
              <a:alpha val="20000"/>
            </a:srgbClr>
          </a:solid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Task-aware event residence time control. </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Individually controlled based on load and interference between applications.</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Customize constraints and goals for event residence time.</a:t>
            </a:r>
          </a:p>
        </p:txBody>
      </p:sp>
      <p:pic>
        <p:nvPicPr>
          <p:cNvPr id="8" name="图片 7">
            <a:extLst>
              <a:ext uri="{FF2B5EF4-FFF2-40B4-BE49-F238E27FC236}">
                <a16:creationId xmlns:a16="http://schemas.microsoft.com/office/drawing/2014/main" id="{4B586E1B-F973-5A4A-8590-92D62550E7B7}"/>
              </a:ext>
            </a:extLst>
          </p:cNvPr>
          <p:cNvPicPr>
            <a:picLocks noChangeAspect="1"/>
          </p:cNvPicPr>
          <p:nvPr/>
        </p:nvPicPr>
        <p:blipFill>
          <a:blip r:embed="rId3"/>
          <a:stretch>
            <a:fillRect/>
          </a:stretch>
        </p:blipFill>
        <p:spPr>
          <a:xfrm>
            <a:off x="193964" y="1537854"/>
            <a:ext cx="5413615" cy="4005117"/>
          </a:xfrm>
          <a:prstGeom prst="rect">
            <a:avLst/>
          </a:prstGeom>
        </p:spPr>
      </p:pic>
      <p:sp>
        <p:nvSpPr>
          <p:cNvPr id="9" name="矩形 8">
            <a:extLst>
              <a:ext uri="{FF2B5EF4-FFF2-40B4-BE49-F238E27FC236}">
                <a16:creationId xmlns:a16="http://schemas.microsoft.com/office/drawing/2014/main" id="{3CDB88D4-EA21-364E-B83A-09E74EE17878}"/>
              </a:ext>
            </a:extLst>
          </p:cNvPr>
          <p:cNvSpPr/>
          <p:nvPr/>
        </p:nvSpPr>
        <p:spPr>
          <a:xfrm>
            <a:off x="1330036" y="4239491"/>
            <a:ext cx="1925782" cy="102523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0" name="标题 1">
            <a:extLst>
              <a:ext uri="{FF2B5EF4-FFF2-40B4-BE49-F238E27FC236}">
                <a16:creationId xmlns:a16="http://schemas.microsoft.com/office/drawing/2014/main" id="{2E104CC0-799A-3E4F-9DF9-340D79EB5995}"/>
              </a:ext>
            </a:extLst>
          </p:cNvPr>
          <p:cNvSpPr txBox="1">
            <a:spLocks/>
          </p:cNvSpPr>
          <p:nvPr/>
        </p:nvSpPr>
        <p:spPr>
          <a:xfrm>
            <a:off x="664587" y="5536005"/>
            <a:ext cx="4932650" cy="6175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2400" b="1" kern="1200" baseline="0" dirty="0">
                <a:solidFill>
                  <a:srgbClr val="4D7D2B"/>
                </a:solidFill>
                <a:latin typeface="Arial" panose="020B0604020202020204" pitchFamily="34" charset="0"/>
                <a:ea typeface="微软雅黑" panose="020B0503020204020204" pitchFamily="34" charset="-122"/>
                <a:cs typeface="+mn-ea"/>
              </a:defRPr>
            </a:lvl1pPr>
          </a:lstStyle>
          <a:p>
            <a:pPr algn="ctr"/>
            <a:r>
              <a:rPr kumimoji="1" lang="en-US" altLang="zh-CN" dirty="0">
                <a:solidFill>
                  <a:srgbClr val="C00000"/>
                </a:solidFill>
                <a:latin typeface="Times New Roman" panose="02020603050405020304" pitchFamily="18" charset="0"/>
                <a:cs typeface="Times New Roman" panose="02020603050405020304" pitchFamily="18" charset="0"/>
              </a:rPr>
              <a:t>RT-NODROP  Workflow</a:t>
            </a:r>
            <a:endParaRPr kumimoji="1" lang="en-US" dirty="0">
              <a:solidFill>
                <a:srgbClr val="C00000"/>
              </a:solidFill>
              <a:latin typeface="Times New Roman" panose="02020603050405020304" pitchFamily="18" charset="0"/>
              <a:cs typeface="Times New Roman" panose="02020603050405020304" pitchFamily="18" charset="0"/>
            </a:endParaRPr>
          </a:p>
        </p:txBody>
      </p:sp>
      <p:sp>
        <p:nvSpPr>
          <p:cNvPr id="11" name="八角星 10">
            <a:extLst>
              <a:ext uri="{FF2B5EF4-FFF2-40B4-BE49-F238E27FC236}">
                <a16:creationId xmlns:a16="http://schemas.microsoft.com/office/drawing/2014/main" id="{43BAC931-DFE8-CE43-AD94-0B9B4CBBCD2E}"/>
              </a:ext>
            </a:extLst>
          </p:cNvPr>
          <p:cNvSpPr>
            <a:spLocks noChangeAspect="1"/>
          </p:cNvSpPr>
          <p:nvPr/>
        </p:nvSpPr>
        <p:spPr>
          <a:xfrm>
            <a:off x="5791200" y="3061849"/>
            <a:ext cx="554519" cy="554182"/>
          </a:xfrm>
          <a:prstGeom prst="star8">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latin typeface="Times New Roman" panose="02020603050405020304" pitchFamily="18" charset="0"/>
                <a:cs typeface="Times New Roman" panose="02020603050405020304" pitchFamily="18" charset="0"/>
              </a:rPr>
              <a:t>II</a:t>
            </a:r>
            <a:endParaRPr kumimoji="1" lang="zh-CN" alt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891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A62AD-2CE0-1A43-8DD4-110EE4750A62}"/>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Real-Time Auditing Implementation</a:t>
            </a:r>
            <a:endParaRPr kumimoji="1" lang="zh-CN" altLang="en-US" dirty="0">
              <a:latin typeface="Times New Roman" panose="02020603050405020304" pitchFamily="18" charset="0"/>
              <a:cs typeface="Times New Roman" panose="02020603050405020304" pitchFamily="18" charset="0"/>
            </a:endParaRPr>
          </a:p>
        </p:txBody>
      </p:sp>
      <p:sp>
        <p:nvSpPr>
          <p:cNvPr id="3" name="矩形: 圆角 5">
            <a:extLst>
              <a:ext uri="{FF2B5EF4-FFF2-40B4-BE49-F238E27FC236}">
                <a16:creationId xmlns:a16="http://schemas.microsoft.com/office/drawing/2014/main" id="{2D1107EB-8370-374F-8BBC-38AE2F51A908}"/>
              </a:ext>
            </a:extLst>
          </p:cNvPr>
          <p:cNvSpPr/>
          <p:nvPr/>
        </p:nvSpPr>
        <p:spPr>
          <a:xfrm>
            <a:off x="5721930" y="4460400"/>
            <a:ext cx="6359237" cy="1066800"/>
          </a:xfrm>
          <a:prstGeom prst="roundRect">
            <a:avLst/>
          </a:prstGeom>
          <a:solidFill>
            <a:srgbClr val="C00000">
              <a:alpha val="20000"/>
            </a:srgbClr>
          </a:solid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Decoupling consumer invocation from syscall execution. </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Uses a per-thread timer to asynchronously invoke a consumer.</a:t>
            </a:r>
          </a:p>
        </p:txBody>
      </p:sp>
      <p:pic>
        <p:nvPicPr>
          <p:cNvPr id="8" name="图片 7">
            <a:extLst>
              <a:ext uri="{FF2B5EF4-FFF2-40B4-BE49-F238E27FC236}">
                <a16:creationId xmlns:a16="http://schemas.microsoft.com/office/drawing/2014/main" id="{4B586E1B-F973-5A4A-8590-92D62550E7B7}"/>
              </a:ext>
            </a:extLst>
          </p:cNvPr>
          <p:cNvPicPr>
            <a:picLocks noChangeAspect="1"/>
          </p:cNvPicPr>
          <p:nvPr/>
        </p:nvPicPr>
        <p:blipFill>
          <a:blip r:embed="rId3"/>
          <a:stretch>
            <a:fillRect/>
          </a:stretch>
        </p:blipFill>
        <p:spPr>
          <a:xfrm>
            <a:off x="193964" y="1537854"/>
            <a:ext cx="5413615" cy="4005117"/>
          </a:xfrm>
          <a:prstGeom prst="rect">
            <a:avLst/>
          </a:prstGeom>
        </p:spPr>
      </p:pic>
      <p:sp>
        <p:nvSpPr>
          <p:cNvPr id="9" name="矩形 8">
            <a:extLst>
              <a:ext uri="{FF2B5EF4-FFF2-40B4-BE49-F238E27FC236}">
                <a16:creationId xmlns:a16="http://schemas.microsoft.com/office/drawing/2014/main" id="{3CDB88D4-EA21-364E-B83A-09E74EE17878}"/>
              </a:ext>
            </a:extLst>
          </p:cNvPr>
          <p:cNvSpPr/>
          <p:nvPr/>
        </p:nvSpPr>
        <p:spPr>
          <a:xfrm>
            <a:off x="1330036" y="4239491"/>
            <a:ext cx="1925782" cy="102523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0" name="标题 1">
            <a:extLst>
              <a:ext uri="{FF2B5EF4-FFF2-40B4-BE49-F238E27FC236}">
                <a16:creationId xmlns:a16="http://schemas.microsoft.com/office/drawing/2014/main" id="{2E104CC0-799A-3E4F-9DF9-340D79EB5995}"/>
              </a:ext>
            </a:extLst>
          </p:cNvPr>
          <p:cNvSpPr txBox="1">
            <a:spLocks/>
          </p:cNvSpPr>
          <p:nvPr/>
        </p:nvSpPr>
        <p:spPr>
          <a:xfrm>
            <a:off x="664587" y="5536005"/>
            <a:ext cx="4932650" cy="6175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2400" b="1" kern="1200" baseline="0" dirty="0">
                <a:solidFill>
                  <a:srgbClr val="4D7D2B"/>
                </a:solidFill>
                <a:latin typeface="Arial" panose="020B0604020202020204" pitchFamily="34" charset="0"/>
                <a:ea typeface="微软雅黑" panose="020B0503020204020204" pitchFamily="34" charset="-122"/>
                <a:cs typeface="+mn-ea"/>
              </a:defRPr>
            </a:lvl1pPr>
          </a:lstStyle>
          <a:p>
            <a:pPr algn="ctr"/>
            <a:r>
              <a:rPr kumimoji="1" lang="en-US" altLang="zh-CN" dirty="0">
                <a:solidFill>
                  <a:srgbClr val="C00000"/>
                </a:solidFill>
                <a:latin typeface="Times New Roman" panose="02020603050405020304" pitchFamily="18" charset="0"/>
                <a:cs typeface="Times New Roman" panose="02020603050405020304" pitchFamily="18" charset="0"/>
              </a:rPr>
              <a:t>Workflow</a:t>
            </a:r>
            <a:endParaRPr kumimoji="1" lang="en-US" dirty="0">
              <a:solidFill>
                <a:srgbClr val="C00000"/>
              </a:solidFill>
              <a:latin typeface="Times New Roman" panose="02020603050405020304" pitchFamily="18" charset="0"/>
              <a:cs typeface="Times New Roman" panose="02020603050405020304" pitchFamily="18" charset="0"/>
            </a:endParaRPr>
          </a:p>
        </p:txBody>
      </p:sp>
      <p:sp>
        <p:nvSpPr>
          <p:cNvPr id="11" name="八角星 10">
            <a:extLst>
              <a:ext uri="{FF2B5EF4-FFF2-40B4-BE49-F238E27FC236}">
                <a16:creationId xmlns:a16="http://schemas.microsoft.com/office/drawing/2014/main" id="{2CA228ED-71DB-454D-927F-1269B9921B29}"/>
              </a:ext>
            </a:extLst>
          </p:cNvPr>
          <p:cNvSpPr>
            <a:spLocks noChangeAspect="1"/>
          </p:cNvSpPr>
          <p:nvPr/>
        </p:nvSpPr>
        <p:spPr>
          <a:xfrm>
            <a:off x="5791200" y="3602180"/>
            <a:ext cx="793223" cy="554182"/>
          </a:xfrm>
          <a:prstGeom prst="star8">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latin typeface="Times New Roman" panose="02020603050405020304" pitchFamily="18" charset="0"/>
                <a:cs typeface="Times New Roman" panose="02020603050405020304" pitchFamily="18" charset="0"/>
              </a:rPr>
              <a:t>III</a:t>
            </a:r>
            <a:endParaRPr kumimoji="1" lang="zh-CN" alt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7182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A62AD-2CE0-1A43-8DD4-110EE4750A62}"/>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Real-Time Auditing Implementation</a:t>
            </a:r>
            <a:endParaRPr kumimoji="1" lang="zh-CN" altLang="en-US" dirty="0">
              <a:latin typeface="Times New Roman" panose="02020603050405020304" pitchFamily="18" charset="0"/>
              <a:cs typeface="Times New Roman" panose="02020603050405020304" pitchFamily="18" charset="0"/>
            </a:endParaRPr>
          </a:p>
        </p:txBody>
      </p:sp>
      <p:sp>
        <p:nvSpPr>
          <p:cNvPr id="3" name="矩形: 圆角 5">
            <a:extLst>
              <a:ext uri="{FF2B5EF4-FFF2-40B4-BE49-F238E27FC236}">
                <a16:creationId xmlns:a16="http://schemas.microsoft.com/office/drawing/2014/main" id="{2D1107EB-8370-374F-8BBC-38AE2F51A908}"/>
              </a:ext>
            </a:extLst>
          </p:cNvPr>
          <p:cNvSpPr/>
          <p:nvPr/>
        </p:nvSpPr>
        <p:spPr>
          <a:xfrm>
            <a:off x="5720400" y="3851563"/>
            <a:ext cx="6359237" cy="1676401"/>
          </a:xfrm>
          <a:prstGeom prst="roundRect">
            <a:avLst/>
          </a:prstGeom>
          <a:solidFill>
            <a:srgbClr val="C00000">
              <a:alpha val="20000"/>
            </a:srgbClr>
          </a:solid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Consumer pre-loading. </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Consumers are loaded in advance at the time of each thread creation.</a:t>
            </a:r>
          </a:p>
          <a:p>
            <a:pPr marL="457200" indent="-457200">
              <a:buAutoNum type="arabicParenR"/>
            </a:pPr>
            <a:r>
              <a:rPr kumimoji="1" lang="en-US" altLang="zh-CN" sz="2000" dirty="0">
                <a:solidFill>
                  <a:schemeClr val="tx1"/>
                </a:solidFill>
                <a:latin typeface="Times New Roman" panose="02020603050405020304" pitchFamily="18" charset="0"/>
                <a:cs typeface="Times New Roman" panose="02020603050405020304" pitchFamily="18" charset="0"/>
              </a:rPr>
              <a:t>Only has the cost of switching to the consumer, without the cost of loading and initialization.</a:t>
            </a:r>
          </a:p>
        </p:txBody>
      </p:sp>
      <p:pic>
        <p:nvPicPr>
          <p:cNvPr id="8" name="图片 7">
            <a:extLst>
              <a:ext uri="{FF2B5EF4-FFF2-40B4-BE49-F238E27FC236}">
                <a16:creationId xmlns:a16="http://schemas.microsoft.com/office/drawing/2014/main" id="{4B586E1B-F973-5A4A-8590-92D62550E7B7}"/>
              </a:ext>
            </a:extLst>
          </p:cNvPr>
          <p:cNvPicPr>
            <a:picLocks noChangeAspect="1"/>
          </p:cNvPicPr>
          <p:nvPr/>
        </p:nvPicPr>
        <p:blipFill>
          <a:blip r:embed="rId3"/>
          <a:stretch>
            <a:fillRect/>
          </a:stretch>
        </p:blipFill>
        <p:spPr>
          <a:xfrm>
            <a:off x="193964" y="1537854"/>
            <a:ext cx="5413615" cy="4005117"/>
          </a:xfrm>
          <a:prstGeom prst="rect">
            <a:avLst/>
          </a:prstGeom>
        </p:spPr>
      </p:pic>
      <p:sp>
        <p:nvSpPr>
          <p:cNvPr id="9" name="矩形 8">
            <a:extLst>
              <a:ext uri="{FF2B5EF4-FFF2-40B4-BE49-F238E27FC236}">
                <a16:creationId xmlns:a16="http://schemas.microsoft.com/office/drawing/2014/main" id="{3CDB88D4-EA21-364E-B83A-09E74EE17878}"/>
              </a:ext>
            </a:extLst>
          </p:cNvPr>
          <p:cNvSpPr/>
          <p:nvPr/>
        </p:nvSpPr>
        <p:spPr>
          <a:xfrm>
            <a:off x="1330036" y="4239491"/>
            <a:ext cx="1925782" cy="102523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noFill/>
            </a:endParaRPr>
          </a:p>
        </p:txBody>
      </p:sp>
      <p:sp>
        <p:nvSpPr>
          <p:cNvPr id="10" name="标题 1">
            <a:extLst>
              <a:ext uri="{FF2B5EF4-FFF2-40B4-BE49-F238E27FC236}">
                <a16:creationId xmlns:a16="http://schemas.microsoft.com/office/drawing/2014/main" id="{2E104CC0-799A-3E4F-9DF9-340D79EB5995}"/>
              </a:ext>
            </a:extLst>
          </p:cNvPr>
          <p:cNvSpPr txBox="1">
            <a:spLocks/>
          </p:cNvSpPr>
          <p:nvPr/>
        </p:nvSpPr>
        <p:spPr>
          <a:xfrm>
            <a:off x="664587" y="5536005"/>
            <a:ext cx="4932650" cy="6175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2400" b="1" kern="1200" baseline="0" dirty="0">
                <a:solidFill>
                  <a:srgbClr val="4D7D2B"/>
                </a:solidFill>
                <a:latin typeface="Arial" panose="020B0604020202020204" pitchFamily="34" charset="0"/>
                <a:ea typeface="微软雅黑" panose="020B0503020204020204" pitchFamily="34" charset="-122"/>
                <a:cs typeface="+mn-ea"/>
              </a:defRPr>
            </a:lvl1pPr>
          </a:lstStyle>
          <a:p>
            <a:pPr algn="ctr"/>
            <a:r>
              <a:rPr kumimoji="1" lang="en-US" altLang="zh-CN" dirty="0">
                <a:solidFill>
                  <a:srgbClr val="C00000"/>
                </a:solidFill>
                <a:latin typeface="Times New Roman" panose="02020603050405020304" pitchFamily="18" charset="0"/>
                <a:cs typeface="Times New Roman" panose="02020603050405020304" pitchFamily="18" charset="0"/>
              </a:rPr>
              <a:t>Workflow</a:t>
            </a:r>
            <a:endParaRPr kumimoji="1" lang="en-US" dirty="0">
              <a:solidFill>
                <a:srgbClr val="C00000"/>
              </a:solidFill>
              <a:latin typeface="Times New Roman" panose="02020603050405020304" pitchFamily="18" charset="0"/>
              <a:cs typeface="Times New Roman" panose="02020603050405020304" pitchFamily="18" charset="0"/>
            </a:endParaRPr>
          </a:p>
        </p:txBody>
      </p:sp>
      <p:sp>
        <p:nvSpPr>
          <p:cNvPr id="12" name="八角星 11">
            <a:extLst>
              <a:ext uri="{FF2B5EF4-FFF2-40B4-BE49-F238E27FC236}">
                <a16:creationId xmlns:a16="http://schemas.microsoft.com/office/drawing/2014/main" id="{49289695-F0D8-CE4A-A93E-CA11618D6233}"/>
              </a:ext>
            </a:extLst>
          </p:cNvPr>
          <p:cNvSpPr>
            <a:spLocks noChangeAspect="1"/>
          </p:cNvSpPr>
          <p:nvPr/>
        </p:nvSpPr>
        <p:spPr>
          <a:xfrm>
            <a:off x="5791200" y="3061849"/>
            <a:ext cx="712342" cy="554182"/>
          </a:xfrm>
          <a:prstGeom prst="star8">
            <a:avLst/>
          </a:prstGeom>
          <a:solidFill>
            <a:srgbClr val="4D7D2B">
              <a:alpha val="20000"/>
            </a:srgbClr>
          </a:solidFill>
          <a:ln w="57150">
            <a:solidFill>
              <a:srgbClr val="4D7D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latin typeface="Times New Roman" panose="02020603050405020304" pitchFamily="18" charset="0"/>
                <a:cs typeface="Times New Roman" panose="02020603050405020304" pitchFamily="18" charset="0"/>
              </a:rPr>
              <a:t>IV</a:t>
            </a:r>
            <a:endParaRPr kumimoji="1" lang="zh-CN" alt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2323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F593DD-EC8F-D240-B460-A20F772139A0}"/>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Response Time and Residence Time Analysis</a:t>
            </a:r>
            <a:endParaRPr kumimoji="1"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8">
                <a:extLst>
                  <a:ext uri="{FF2B5EF4-FFF2-40B4-BE49-F238E27FC236}">
                    <a16:creationId xmlns:a16="http://schemas.microsoft.com/office/drawing/2014/main" id="{757834EE-853B-FF4C-9DAB-229C2BCF684D}"/>
                  </a:ext>
                </a:extLst>
              </p:cNvPr>
              <p:cNvSpPr txBox="1"/>
              <p:nvPr/>
            </p:nvSpPr>
            <p:spPr>
              <a:xfrm>
                <a:off x="485778" y="1281788"/>
                <a:ext cx="11446391" cy="5027595"/>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Task Response Time (</a:t>
                </a:r>
                <a14:m>
                  <m:oMath xmlns:m="http://schemas.openxmlformats.org/officeDocument/2006/math">
                    <m:sSub>
                      <m:sSubPr>
                        <m:ctrlPr>
                          <a:rPr lang="en-US" altLang="zh-CN" sz="2000" b="1" i="1">
                            <a:solidFill>
                              <a:srgbClr val="4F7E5D"/>
                            </a:solidFill>
                            <a:latin typeface="Cambria Math" panose="02040503050406030204" pitchFamily="18" charset="0"/>
                            <a:ea typeface="微软雅黑" panose="020B0503020204020204" pitchFamily="34" charset="-122"/>
                          </a:rPr>
                        </m:ctrlPr>
                      </m:sSubPr>
                      <m:e>
                        <m:r>
                          <a:rPr lang="en-US" altLang="zh-CN" sz="2000" b="1" i="1">
                            <a:solidFill>
                              <a:srgbClr val="4F7E5D"/>
                            </a:solidFill>
                            <a:latin typeface="Cambria Math" panose="02040503050406030204" pitchFamily="18" charset="0"/>
                            <a:ea typeface="微软雅黑" panose="020B0503020204020204" pitchFamily="34" charset="-122"/>
                          </a:rPr>
                          <m:t>𝒓</m:t>
                        </m:r>
                      </m:e>
                      <m:sub>
                        <m:r>
                          <a:rPr lang="en-US" altLang="zh-CN" sz="2000" b="1" i="1">
                            <a:solidFill>
                              <a:srgbClr val="4F7E5D"/>
                            </a:solidFill>
                            <a:latin typeface="Cambria Math" panose="02040503050406030204" pitchFamily="18" charset="0"/>
                            <a:ea typeface="微软雅黑" panose="020B0503020204020204" pitchFamily="34" charset="-122"/>
                          </a:rPr>
                          <m:t>𝒊</m:t>
                        </m:r>
                      </m:sub>
                    </m:sSub>
                  </m:oMath>
                </a14:m>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Analysis</a:t>
                </a:r>
              </a:p>
              <a:p>
                <a:pPr marL="457200" indent="-457200">
                  <a:buFontTx/>
                  <a:buAutoNum type="arabicParenBoth"/>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Increased task WCET. </a:t>
                </a:r>
                <a14:m>
                  <m:oMath xmlns:m="http://schemas.openxmlformats.org/officeDocument/2006/math">
                    <m:r>
                      <m:rPr>
                        <m:sty m:val="p"/>
                      </m:r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Δ</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is the maximum overhead imposed on each syscall, </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i="1">
                            <a:latin typeface="Cambria Math" panose="02040503050406030204" pitchFamily="18" charset="0"/>
                            <a:ea typeface="微软雅黑" panose="020B0503020204020204" pitchFamily="34" charset="-122"/>
                            <a:cs typeface="Times New Roman" panose="02020603050405020304" pitchFamily="18" charset="0"/>
                          </a:rPr>
                          <m:t>s</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is the number of syscalls per task. </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𝐸</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is the WCET of task </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𝜏</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oMath>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微软雅黑" panose="020B0503020204020204" pitchFamily="34" charset="-122"/>
                            </a:rPr>
                          </m:ctrlPr>
                        </m:sSubPr>
                        <m:e>
                          <m:r>
                            <m:rPr>
                              <m:sty m:val="p"/>
                            </m:rPr>
                            <a:rPr lang="en-US" altLang="zh-CN" sz="2000" i="1">
                              <a:latin typeface="Cambria Math" panose="02040503050406030204" pitchFamily="18" charset="0"/>
                              <a:ea typeface="微软雅黑" panose="020B0503020204020204" pitchFamily="34" charset="-122"/>
                            </a:rPr>
                            <m:t>E</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𝑒</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𝑠</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r>
                        <m:rPr>
                          <m:sty m:val="p"/>
                        </m:rPr>
                        <a:rPr lang="en-US" altLang="zh-CN" sz="2000" i="1">
                          <a:latin typeface="Cambria Math" panose="02040503050406030204" pitchFamily="18" charset="0"/>
                          <a:ea typeface="微软雅黑" panose="020B0503020204020204" pitchFamily="34" charset="-122"/>
                        </a:rPr>
                        <m:t>Δ</m:t>
                      </m:r>
                    </m:oMath>
                  </m:oMathPara>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buFont typeface="Wingdings" pitchFamily="2" charset="2"/>
                  <a:buAutoNum type="arabicParenBoth" startAt="2"/>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Consumer execution interference. </a:t>
                </a:r>
                <a14:m>
                  <m:oMath xmlns:m="http://schemas.openxmlformats.org/officeDocument/2006/math">
                    <m:r>
                      <m:rPr>
                        <m:sty m:val="p"/>
                      </m:rPr>
                      <a:rPr lang="en-US" altLang="zh-CN" sz="2000" i="1">
                        <a:latin typeface="Cambria Math" panose="02040503050406030204" pitchFamily="18" charset="0"/>
                        <a:ea typeface="微软雅黑" panose="020B0503020204020204" pitchFamily="34" charset="-122"/>
                        <a:cs typeface="Times New Roman" panose="02020603050405020304" pitchFamily="18" charset="0"/>
                      </a:rPr>
                      <m:t>α</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is constant consumer invocation overhead, </a:t>
                </a:r>
                <a14:m>
                  <m:oMath xmlns:m="http://schemas.openxmlformats.org/officeDocument/2006/math">
                    <m:r>
                      <m:rPr>
                        <m:sty m:val="p"/>
                      </m:r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β</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is a processing overhead for each syscall. </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𝑞</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is the consumer invocation period and </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𝜖</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is the consumer WCET</a:t>
                </a:r>
              </a:p>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𝜖</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𝛼</m:t>
                      </m:r>
                      <m:r>
                        <a:rPr lang="en-US" altLang="zh-CN" sz="2000" i="1">
                          <a:latin typeface="Cambria Math" panose="02040503050406030204" pitchFamily="18" charset="0"/>
                          <a:ea typeface="微软雅黑" panose="020B0503020204020204" pitchFamily="34" charset="-122"/>
                        </a:rPr>
                        <m:t>+</m:t>
                      </m:r>
                      <m:d>
                        <m:dPr>
                          <m:begChr m:val="⌈"/>
                          <m:endChr m:val="⌉"/>
                          <m:ctrlPr>
                            <a:rPr lang="en-US" altLang="zh-CN" sz="2000" i="1">
                              <a:latin typeface="Cambria Math" panose="02040503050406030204" pitchFamily="18" charset="0"/>
                              <a:ea typeface="微软雅黑" panose="020B0503020204020204" pitchFamily="34" charset="-122"/>
                            </a:rPr>
                          </m:ctrlPr>
                        </m:dPr>
                        <m:e>
                          <m:f>
                            <m:fPr>
                              <m:ctrlPr>
                                <a:rPr lang="en-US" altLang="zh-CN" sz="2000" i="1">
                                  <a:latin typeface="Cambria Math" panose="02040503050406030204" pitchFamily="18" charset="0"/>
                                  <a:ea typeface="微软雅黑" panose="020B0503020204020204" pitchFamily="34" charset="-122"/>
                                </a:rPr>
                              </m:ctrlPr>
                            </m:fPr>
                            <m:num>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𝑞</m:t>
                                  </m:r>
                                </m:e>
                                <m:sub>
                                  <m:r>
                                    <a:rPr lang="en-US" altLang="zh-CN" sz="2000" i="1">
                                      <a:latin typeface="Cambria Math" panose="02040503050406030204" pitchFamily="18" charset="0"/>
                                      <a:ea typeface="微软雅黑" panose="020B0503020204020204" pitchFamily="34" charset="-122"/>
                                    </a:rPr>
                                    <m:t>𝑖</m:t>
                                  </m:r>
                                </m:sub>
                              </m:sSub>
                            </m:num>
                            <m:den>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𝑖</m:t>
                                  </m:r>
                                </m:sub>
                              </m:sSub>
                            </m:den>
                          </m:f>
                        </m:e>
                      </m:d>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𝑠</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r>
                        <m:rPr>
                          <m:sty m:val="p"/>
                        </m:rPr>
                        <a:rPr lang="en-US" altLang="zh-CN" sz="2000" i="1">
                          <a:latin typeface="Cambria Math" panose="02040503050406030204" pitchFamily="18" charset="0"/>
                          <a:ea typeface="微软雅黑" panose="020B0503020204020204" pitchFamily="34" charset="-122"/>
                        </a:rPr>
                        <m:t>β</m:t>
                      </m:r>
                    </m:oMath>
                  </m:oMathPara>
                </a14:m>
                <a:endParaRPr lang="en-US" altLang="zh-CN" sz="2000" i="1" dirty="0">
                  <a:latin typeface="Cambria Math" panose="02040503050406030204" pitchFamily="18" charset="0"/>
                  <a:ea typeface="微软雅黑" panose="020B0503020204020204" pitchFamily="34" charset="-122"/>
                </a:endParaRPr>
              </a:p>
              <a:p>
                <a:pPr marL="457200" indent="-457200">
                  <a:buFont typeface="Wingdings" pitchFamily="2" charset="2"/>
                  <a:buAutoNum type="arabicParenBoth" startAt="3"/>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The set of consumers with higher priority than </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𝜏</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is </a:t>
                </a:r>
                <a14:m>
                  <m:oMath xmlns:m="http://schemas.openxmlformats.org/officeDocument/2006/math">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𝑐h</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𝑝</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the total consumer interference on </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𝜏</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is</a:t>
                </a:r>
              </a:p>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微软雅黑" panose="020B0503020204020204" pitchFamily="34" charset="-122"/>
                        </a:rPr>
                        <m:t>𝐼</m:t>
                      </m:r>
                      <m:d>
                        <m:dPr>
                          <m:ctrlPr>
                            <a:rPr lang="en-US" altLang="zh-CN" sz="2000" i="1">
                              <a:latin typeface="Cambria Math" panose="02040503050406030204" pitchFamily="18" charset="0"/>
                              <a:ea typeface="微软雅黑" panose="020B0503020204020204" pitchFamily="34" charset="-122"/>
                            </a:rPr>
                          </m:ctrlPr>
                        </m:dPr>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𝜎</m:t>
                              </m:r>
                            </m:e>
                            <m:sub>
                              <m:r>
                                <a:rPr lang="en-US" altLang="zh-CN" sz="2000" i="1">
                                  <a:latin typeface="Cambria Math" panose="02040503050406030204" pitchFamily="18" charset="0"/>
                                  <a:ea typeface="微软雅黑" panose="020B0503020204020204" pitchFamily="34" charset="-122"/>
                                </a:rPr>
                                <m:t>𝑖</m:t>
                              </m:r>
                            </m:sub>
                          </m:sSub>
                        </m:e>
                      </m:d>
                      <m:r>
                        <a:rPr lang="en-US" altLang="zh-CN" sz="2000" i="1">
                          <a:latin typeface="Cambria Math" panose="02040503050406030204" pitchFamily="18" charset="0"/>
                          <a:ea typeface="微软雅黑" panose="020B0503020204020204" pitchFamily="34" charset="-122"/>
                        </a:rPr>
                        <m:t>=</m:t>
                      </m:r>
                      <m:nary>
                        <m:naryPr>
                          <m:chr m:val="∑"/>
                          <m:supHide m:val="on"/>
                          <m:ctrlPr>
                            <a:rPr lang="en-US" altLang="zh-CN" sz="2000" i="1">
                              <a:latin typeface="Cambria Math" panose="02040503050406030204" pitchFamily="18" charset="0"/>
                              <a:ea typeface="微软雅黑" panose="020B0503020204020204" pitchFamily="34" charset="-122"/>
                            </a:rPr>
                          </m:ctrlPr>
                        </m:naryPr>
                        <m:sub>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𝜎</m:t>
                              </m:r>
                            </m:e>
                            <m:sub>
                              <m:r>
                                <a:rPr lang="en-US" altLang="zh-CN" sz="2000" i="1">
                                  <a:latin typeface="Cambria Math" panose="02040503050406030204" pitchFamily="18" charset="0"/>
                                  <a:ea typeface="微软雅黑" panose="020B0503020204020204" pitchFamily="34" charset="-122"/>
                                </a:rPr>
                                <m:t>𝑘</m:t>
                              </m:r>
                            </m:sub>
                          </m:sSub>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𝑐h</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𝑖</m:t>
                              </m:r>
                            </m:sub>
                          </m:sSub>
                        </m:sub>
                        <m:sup/>
                        <m:e>
                          <m:d>
                            <m:dPr>
                              <m:begChr m:val="⌈"/>
                              <m:endChr m:val="⌉"/>
                              <m:ctrlPr>
                                <a:rPr lang="en-US" altLang="zh-CN" sz="2000" i="1">
                                  <a:latin typeface="Cambria Math" panose="02040503050406030204" pitchFamily="18" charset="0"/>
                                  <a:ea typeface="微软雅黑" panose="020B0503020204020204" pitchFamily="34" charset="-122"/>
                                </a:rPr>
                              </m:ctrlPr>
                            </m:dPr>
                            <m:e>
                              <m:f>
                                <m:fPr>
                                  <m:ctrlPr>
                                    <a:rPr lang="en-US" altLang="zh-CN" sz="2000" i="1">
                                      <a:latin typeface="Cambria Math" panose="02040503050406030204" pitchFamily="18" charset="0"/>
                                      <a:ea typeface="微软雅黑" panose="020B0503020204020204" pitchFamily="34" charset="-122"/>
                                    </a:rPr>
                                  </m:ctrlPr>
                                </m:fPr>
                                <m:num>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𝑟</m:t>
                                      </m:r>
                                    </m:e>
                                    <m:sub>
                                      <m:r>
                                        <a:rPr lang="en-US" altLang="zh-CN" sz="2000" i="1">
                                          <a:latin typeface="Cambria Math" panose="02040503050406030204" pitchFamily="18" charset="0"/>
                                          <a:ea typeface="微软雅黑" panose="020B0503020204020204" pitchFamily="34" charset="-122"/>
                                        </a:rPr>
                                        <m:t>𝑖</m:t>
                                      </m:r>
                                    </m:sub>
                                  </m:sSub>
                                </m:num>
                                <m:den>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𝑞</m:t>
                                      </m:r>
                                    </m:e>
                                    <m:sub>
                                      <m:r>
                                        <a:rPr lang="en-US" altLang="zh-CN" sz="2000" i="1">
                                          <a:latin typeface="Cambria Math" panose="02040503050406030204" pitchFamily="18" charset="0"/>
                                          <a:ea typeface="微软雅黑" panose="020B0503020204020204" pitchFamily="34" charset="-122"/>
                                        </a:rPr>
                                        <m:t>𝑘</m:t>
                                      </m:r>
                                    </m:sub>
                                  </m:sSub>
                                </m:den>
                              </m:f>
                            </m:e>
                          </m:d>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𝜖</m:t>
                              </m:r>
                            </m:e>
                            <m:sub>
                              <m:r>
                                <a:rPr lang="en-US" altLang="zh-CN" sz="2000" i="1">
                                  <a:latin typeface="Cambria Math" panose="02040503050406030204" pitchFamily="18" charset="0"/>
                                  <a:ea typeface="微软雅黑" panose="020B0503020204020204" pitchFamily="34" charset="-122"/>
                                </a:rPr>
                                <m:t>𝑖</m:t>
                              </m:r>
                            </m:sub>
                          </m:sSub>
                        </m:e>
                      </m:nary>
                    </m:oMath>
                  </m:oMathPara>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buFont typeface="Wingdings" pitchFamily="2" charset="2"/>
                  <a:buAutoNum type="arabicParenBoth" startAt="4"/>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The complete response time under RT-NODROP is</a:t>
                </a:r>
                <a:endParaRPr lang="en-US" altLang="zh-CN" sz="20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𝑟</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m:rPr>
                              <m:sty m:val="p"/>
                            </m:rPr>
                            <a:rPr lang="en-US" altLang="zh-CN" sz="2000" i="1">
                              <a:latin typeface="Cambria Math" panose="02040503050406030204" pitchFamily="18" charset="0"/>
                              <a:ea typeface="微软雅黑" panose="020B0503020204020204" pitchFamily="34" charset="-122"/>
                            </a:rPr>
                            <m:t>E</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𝑏</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nary>
                        <m:naryPr>
                          <m:chr m:val="∑"/>
                          <m:supHide m:val="on"/>
                          <m:ctrlPr>
                            <a:rPr lang="en-US" altLang="zh-CN" sz="2000" i="1">
                              <a:latin typeface="Cambria Math" panose="02040503050406030204" pitchFamily="18" charset="0"/>
                              <a:ea typeface="微软雅黑" panose="020B0503020204020204" pitchFamily="34" charset="-122"/>
                            </a:rPr>
                          </m:ctrlPr>
                        </m:naryPr>
                        <m:sub>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𝜏</m:t>
                              </m:r>
                            </m:e>
                            <m:sub>
                              <m:r>
                                <a:rPr lang="en-US" altLang="zh-CN" sz="2000" i="1">
                                  <a:latin typeface="Cambria Math" panose="02040503050406030204" pitchFamily="18" charset="0"/>
                                  <a:ea typeface="微软雅黑" panose="020B0503020204020204" pitchFamily="34" charset="-122"/>
                                </a:rPr>
                                <m:t>𝑘</m:t>
                              </m:r>
                            </m:sub>
                          </m:sSub>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h</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𝑖</m:t>
                              </m:r>
                            </m:sub>
                          </m:sSub>
                        </m:sub>
                        <m:sup/>
                        <m:e>
                          <m:d>
                            <m:dPr>
                              <m:begChr m:val="⌈"/>
                              <m:endChr m:val="⌉"/>
                              <m:ctrlPr>
                                <a:rPr lang="en-US" altLang="zh-CN" sz="2000" i="1">
                                  <a:latin typeface="Cambria Math" panose="02040503050406030204" pitchFamily="18" charset="0"/>
                                  <a:ea typeface="微软雅黑" panose="020B0503020204020204" pitchFamily="34" charset="-122"/>
                                </a:rPr>
                              </m:ctrlPr>
                            </m:dPr>
                            <m:e>
                              <m:f>
                                <m:fPr>
                                  <m:ctrlPr>
                                    <a:rPr lang="en-US" altLang="zh-CN" sz="2000" i="1">
                                      <a:latin typeface="Cambria Math" panose="02040503050406030204" pitchFamily="18" charset="0"/>
                                      <a:ea typeface="微软雅黑" panose="020B0503020204020204" pitchFamily="34" charset="-122"/>
                                    </a:rPr>
                                  </m:ctrlPr>
                                </m:fPr>
                                <m:num>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𝑟</m:t>
                                      </m:r>
                                    </m:e>
                                    <m:sub>
                                      <m:r>
                                        <a:rPr lang="en-US" altLang="zh-CN" sz="2000" i="1">
                                          <a:latin typeface="Cambria Math" panose="02040503050406030204" pitchFamily="18" charset="0"/>
                                          <a:ea typeface="微软雅黑" panose="020B0503020204020204" pitchFamily="34" charset="-122"/>
                                        </a:rPr>
                                        <m:t>𝑖</m:t>
                                      </m:r>
                                    </m:sub>
                                  </m:sSub>
                                </m:num>
                                <m:den>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𝑘</m:t>
                                      </m:r>
                                    </m:sub>
                                  </m:sSub>
                                </m:den>
                              </m:f>
                            </m:e>
                          </m:d>
                        </m:e>
                      </m:nary>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𝐸</m:t>
                          </m:r>
                        </m:e>
                        <m:sub>
                          <m:r>
                            <a:rPr lang="en-US" altLang="zh-CN" sz="2000" i="1">
                              <a:latin typeface="Cambria Math" panose="02040503050406030204" pitchFamily="18" charset="0"/>
                              <a:ea typeface="微软雅黑" panose="020B0503020204020204" pitchFamily="34" charset="-122"/>
                            </a:rPr>
                            <m:t>𝑘</m:t>
                          </m:r>
                        </m:sub>
                      </m:sSub>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𝐼</m:t>
                      </m:r>
                      <m:d>
                        <m:dPr>
                          <m:ctrlPr>
                            <a:rPr lang="en-US" altLang="zh-CN" sz="2000" i="1">
                              <a:latin typeface="Cambria Math" panose="02040503050406030204" pitchFamily="18" charset="0"/>
                              <a:ea typeface="微软雅黑" panose="020B0503020204020204" pitchFamily="34" charset="-122"/>
                            </a:rPr>
                          </m:ctrlPr>
                        </m:dPr>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𝜎</m:t>
                              </m:r>
                            </m:e>
                            <m:sub>
                              <m:r>
                                <a:rPr lang="en-US" altLang="zh-CN" sz="2000" i="1">
                                  <a:latin typeface="Cambria Math" panose="02040503050406030204" pitchFamily="18" charset="0"/>
                                  <a:ea typeface="微软雅黑" panose="020B0503020204020204" pitchFamily="34" charset="-122"/>
                                </a:rPr>
                                <m:t>𝑖</m:t>
                              </m:r>
                            </m:sub>
                          </m:sSub>
                        </m:e>
                      </m:d>
                    </m:oMath>
                  </m:oMathPara>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gn="ctr"/>
                <a:r>
                  <a:rPr lang="en-US" altLang="zh-CN" sz="2000" u="sng" dirty="0">
                    <a:solidFill>
                      <a:srgbClr val="4D7D2B"/>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We also analyze the response time of the existing auditing framework.</a:t>
                </a:r>
              </a:p>
            </p:txBody>
          </p:sp>
        </mc:Choice>
        <mc:Fallback xmlns="">
          <p:sp>
            <p:nvSpPr>
              <p:cNvPr id="3" name="TextBox 8">
                <a:extLst>
                  <a:ext uri="{FF2B5EF4-FFF2-40B4-BE49-F238E27FC236}">
                    <a16:creationId xmlns:a16="http://schemas.microsoft.com/office/drawing/2014/main" id="{757834EE-853B-FF4C-9DAB-229C2BCF684D}"/>
                  </a:ext>
                </a:extLst>
              </p:cNvPr>
              <p:cNvSpPr txBox="1">
                <a:spLocks noRot="1" noChangeAspect="1" noMove="1" noResize="1" noEditPoints="1" noAdjustHandles="1" noChangeArrowheads="1" noChangeShapeType="1" noTextEdit="1"/>
              </p:cNvSpPr>
              <p:nvPr/>
            </p:nvSpPr>
            <p:spPr>
              <a:xfrm>
                <a:off x="485778" y="1281788"/>
                <a:ext cx="11446391" cy="5027595"/>
              </a:xfrm>
              <a:prstGeom prst="rect">
                <a:avLst/>
              </a:prstGeom>
              <a:blipFill>
                <a:blip r:embed="rId3"/>
                <a:stretch>
                  <a:fillRect l="-443" t="-504" r="-776" b="-216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91595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F593DD-EC8F-D240-B460-A20F772139A0}"/>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Response Time and Residence Time Analysis</a:t>
            </a:r>
            <a:endParaRPr kumimoji="1"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8">
                <a:extLst>
                  <a:ext uri="{FF2B5EF4-FFF2-40B4-BE49-F238E27FC236}">
                    <a16:creationId xmlns:a16="http://schemas.microsoft.com/office/drawing/2014/main" id="{757834EE-853B-FF4C-9DAB-229C2BCF684D}"/>
                  </a:ext>
                </a:extLst>
              </p:cNvPr>
              <p:cNvSpPr txBox="1"/>
              <p:nvPr/>
            </p:nvSpPr>
            <p:spPr>
              <a:xfrm>
                <a:off x="485778" y="1281788"/>
                <a:ext cx="11446391" cy="3456074"/>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Event Residence Time (</a:t>
                </a:r>
                <a14:m>
                  <m:oMath xmlns:m="http://schemas.openxmlformats.org/officeDocument/2006/math">
                    <m:sSub>
                      <m:sSubPr>
                        <m:ctrlPr>
                          <a:rPr lang="en-US" altLang="zh-CN" sz="2000" b="1" i="1">
                            <a:solidFill>
                              <a:srgbClr val="4F7E5D"/>
                            </a:solidFill>
                            <a:latin typeface="Cambria Math" panose="02040503050406030204" pitchFamily="18" charset="0"/>
                            <a:ea typeface="微软雅黑" panose="020B0503020204020204" pitchFamily="34" charset="-122"/>
                          </a:rPr>
                        </m:ctrlPr>
                      </m:sSubPr>
                      <m:e>
                        <m:r>
                          <a:rPr lang="en-US" altLang="zh-CN" sz="2000" b="1" i="1" smtClean="0">
                            <a:solidFill>
                              <a:srgbClr val="4F7E5D"/>
                            </a:solidFill>
                            <a:latin typeface="Cambria Math" panose="02040503050406030204" pitchFamily="18" charset="0"/>
                            <a:ea typeface="微软雅黑" panose="020B0503020204020204" pitchFamily="34" charset="-122"/>
                          </a:rPr>
                          <m:t>𝑹</m:t>
                        </m:r>
                      </m:e>
                      <m:sub>
                        <m:r>
                          <a:rPr lang="en-US" altLang="zh-CN" sz="2000" b="1" i="1">
                            <a:solidFill>
                              <a:srgbClr val="4F7E5D"/>
                            </a:solidFill>
                            <a:latin typeface="Cambria Math" panose="02040503050406030204" pitchFamily="18" charset="0"/>
                            <a:ea typeface="微软雅黑" panose="020B0503020204020204" pitchFamily="34" charset="-122"/>
                          </a:rPr>
                          <m:t>𝒊</m:t>
                        </m:r>
                      </m:sub>
                    </m:sSub>
                  </m:oMath>
                </a14:m>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Analysis</a:t>
                </a:r>
              </a:p>
              <a:p>
                <a:pPr marL="457200" indent="-457200">
                  <a:buFontTx/>
                  <a:buAutoNum type="arabicParenBoth"/>
                </a:pPr>
                <a:r>
                  <a:rPr lang="en-US" altLang="zh-CN" sz="2000" u="sng" dirty="0">
                    <a:latin typeface="Times New Roman" panose="02020603050405020304" pitchFamily="18" charset="0"/>
                    <a:ea typeface="微软雅黑" panose="020B0503020204020204" pitchFamily="34" charset="-122"/>
                    <a:cs typeface="Times New Roman" panose="02020603050405020304" pitchFamily="18" charset="0"/>
                  </a:rPr>
                  <a:t>Two components: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the waiting time </a:t>
                </a:r>
                <a14:m>
                  <m:oMath xmlns:m="http://schemas.openxmlformats.org/officeDocument/2006/math">
                    <m:sSubSup>
                      <m:sSubSup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SupPr>
                      <m:e>
                        <m:r>
                          <m:rPr>
                            <m:sty m:val="p"/>
                          </m:rP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T</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up>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𝑤</m:t>
                        </m:r>
                      </m:sup>
                    </m:sSubSup>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in the kernel buffer and the processing time </a:t>
                </a:r>
                <a14:m>
                  <m:oMath xmlns:m="http://schemas.openxmlformats.org/officeDocument/2006/math">
                    <m:sSubSup>
                      <m:sSubSup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𝑖</m:t>
                        </m:r>
                      </m:sub>
                      <m:sup>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sup>
                    </m:sSubSup>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inside the consumer</a:t>
                </a:r>
              </a:p>
              <a:p>
                <a:pPr/>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ea typeface="微软雅黑" panose="020B0503020204020204" pitchFamily="34" charset="-122"/>
                            </a:rPr>
                          </m:ctrlPr>
                        </m:sSubPr>
                        <m:e>
                          <m:r>
                            <m:rPr>
                              <m:sty m:val="p"/>
                            </m:rPr>
                            <a:rPr lang="en-US" altLang="zh-CN" sz="2000" i="1" dirty="0">
                              <a:latin typeface="Cambria Math" panose="02040503050406030204" pitchFamily="18" charset="0"/>
                              <a:ea typeface="微软雅黑" panose="020B0503020204020204" pitchFamily="34" charset="-122"/>
                            </a:rPr>
                            <m:t>R</m:t>
                          </m:r>
                        </m:e>
                        <m:sub>
                          <m:r>
                            <a:rPr lang="en-US" altLang="zh-CN" sz="2000" i="1" dirty="0">
                              <a:latin typeface="Cambria Math" panose="02040503050406030204" pitchFamily="18" charset="0"/>
                              <a:ea typeface="微软雅黑" panose="020B0503020204020204" pitchFamily="34" charset="-122"/>
                            </a:rPr>
                            <m:t>𝑖</m:t>
                          </m:r>
                        </m:sub>
                      </m:sSub>
                      <m:r>
                        <a:rPr lang="en-US" altLang="zh-CN" sz="2000" i="1" dirty="0">
                          <a:latin typeface="Cambria Math" panose="02040503050406030204" pitchFamily="18" charset="0"/>
                          <a:ea typeface="微软雅黑" panose="020B0503020204020204" pitchFamily="34" charset="-122"/>
                        </a:rPr>
                        <m:t>=</m:t>
                      </m:r>
                      <m:sSubSup>
                        <m:sSubSupPr>
                          <m:ctrlPr>
                            <a:rPr lang="en-US" altLang="zh-CN" sz="2000" i="1" dirty="0">
                              <a:latin typeface="Cambria Math" panose="02040503050406030204" pitchFamily="18" charset="0"/>
                              <a:ea typeface="微软雅黑" panose="020B0503020204020204" pitchFamily="34" charset="-122"/>
                            </a:rPr>
                          </m:ctrlPr>
                        </m:sSubSupPr>
                        <m:e>
                          <m:r>
                            <a:rPr lang="en-US" altLang="zh-CN" sz="2000" i="1" dirty="0">
                              <a:latin typeface="Cambria Math" panose="02040503050406030204" pitchFamily="18" charset="0"/>
                              <a:ea typeface="微软雅黑" panose="020B0503020204020204" pitchFamily="34" charset="-122"/>
                            </a:rPr>
                            <m:t>𝑇</m:t>
                          </m:r>
                        </m:e>
                        <m:sub>
                          <m:r>
                            <a:rPr lang="en-US" altLang="zh-CN" sz="2000" i="1" dirty="0">
                              <a:latin typeface="Cambria Math" panose="02040503050406030204" pitchFamily="18" charset="0"/>
                              <a:ea typeface="微软雅黑" panose="020B0503020204020204" pitchFamily="34" charset="-122"/>
                            </a:rPr>
                            <m:t>𝑖</m:t>
                          </m:r>
                        </m:sub>
                        <m:sup>
                          <m:r>
                            <a:rPr lang="en-US" altLang="zh-CN" sz="2000" i="1" dirty="0">
                              <a:latin typeface="Cambria Math" panose="02040503050406030204" pitchFamily="18" charset="0"/>
                              <a:ea typeface="微软雅黑" panose="020B0503020204020204" pitchFamily="34" charset="-122"/>
                            </a:rPr>
                            <m:t>𝑤</m:t>
                          </m:r>
                        </m:sup>
                      </m:sSubSup>
                      <m:r>
                        <a:rPr lang="en-US" altLang="zh-CN" sz="2000" i="1" dirty="0">
                          <a:latin typeface="Cambria Math" panose="02040503050406030204" pitchFamily="18" charset="0"/>
                          <a:ea typeface="微软雅黑" panose="020B0503020204020204" pitchFamily="34" charset="-122"/>
                        </a:rPr>
                        <m:t>+</m:t>
                      </m:r>
                      <m:sSubSup>
                        <m:sSubSupPr>
                          <m:ctrlPr>
                            <a:rPr lang="en-US" altLang="zh-CN" sz="2000" i="1" dirty="0">
                              <a:latin typeface="Cambria Math" panose="02040503050406030204" pitchFamily="18" charset="0"/>
                              <a:ea typeface="微软雅黑" panose="020B0503020204020204" pitchFamily="34" charset="-122"/>
                            </a:rPr>
                          </m:ctrlPr>
                        </m:sSubSupPr>
                        <m:e>
                          <m:r>
                            <a:rPr lang="en-US" altLang="zh-CN" sz="2000" i="1" dirty="0">
                              <a:latin typeface="Cambria Math" panose="02040503050406030204" pitchFamily="18" charset="0"/>
                              <a:ea typeface="微软雅黑" panose="020B0503020204020204" pitchFamily="34" charset="-122"/>
                            </a:rPr>
                            <m:t>𝑇</m:t>
                          </m:r>
                        </m:e>
                        <m:sub>
                          <m:r>
                            <a:rPr lang="en-US" altLang="zh-CN" sz="2000" i="1" dirty="0">
                              <a:latin typeface="Cambria Math" panose="02040503050406030204" pitchFamily="18" charset="0"/>
                              <a:ea typeface="微软雅黑" panose="020B0503020204020204" pitchFamily="34" charset="-122"/>
                            </a:rPr>
                            <m:t>𝑖</m:t>
                          </m:r>
                        </m:sub>
                        <m:sup>
                          <m:r>
                            <a:rPr lang="en-US" altLang="zh-CN" sz="2000" i="1" dirty="0">
                              <a:latin typeface="Cambria Math" panose="02040503050406030204" pitchFamily="18" charset="0"/>
                              <a:ea typeface="微软雅黑" panose="020B0503020204020204" pitchFamily="34" charset="-122"/>
                            </a:rPr>
                            <m:t>𝑝</m:t>
                          </m:r>
                        </m:sup>
                      </m:sSubSup>
                    </m:oMath>
                  </m:oMathPara>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buFont typeface="Wingdings" pitchFamily="2" charset="2"/>
                  <a:buAutoNum type="arabicParenBoth" startAt="2"/>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The worst-case waiting time is bounded by the consumer invocation period</a:t>
                </a:r>
              </a:p>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ea typeface="微软雅黑" panose="020B0503020204020204" pitchFamily="34" charset="-122"/>
                            </a:rPr>
                          </m:ctrlPr>
                        </m:sSubSupPr>
                        <m:e>
                          <m:r>
                            <a:rPr lang="en-US" altLang="zh-CN" sz="2000" i="1">
                              <a:latin typeface="Cambria Math" panose="02040503050406030204" pitchFamily="18" charset="0"/>
                              <a:ea typeface="微软雅黑" panose="020B0503020204020204" pitchFamily="34" charset="-122"/>
                            </a:rPr>
                            <m:t>𝑇</m:t>
                          </m:r>
                        </m:e>
                        <m:sub>
                          <m:r>
                            <a:rPr lang="en-US" altLang="zh-CN" sz="2000" i="1">
                              <a:latin typeface="Cambria Math" panose="02040503050406030204" pitchFamily="18" charset="0"/>
                              <a:ea typeface="微软雅黑" panose="020B0503020204020204" pitchFamily="34" charset="-122"/>
                            </a:rPr>
                            <m:t>𝑖</m:t>
                          </m:r>
                        </m:sub>
                        <m:sup>
                          <m:r>
                            <a:rPr lang="en-US" altLang="zh-CN" sz="2000" i="1">
                              <a:latin typeface="Cambria Math" panose="02040503050406030204" pitchFamily="18" charset="0"/>
                              <a:ea typeface="微软雅黑" panose="020B0503020204020204" pitchFamily="34" charset="-122"/>
                            </a:rPr>
                            <m:t>𝑤</m:t>
                          </m:r>
                        </m:sup>
                      </m:sSubSup>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𝑞</m:t>
                          </m:r>
                        </m:e>
                        <m:sub>
                          <m:r>
                            <a:rPr lang="en-US" altLang="zh-CN" sz="2000" i="1">
                              <a:latin typeface="Cambria Math" panose="02040503050406030204" pitchFamily="18" charset="0"/>
                              <a:ea typeface="微软雅黑" panose="020B0503020204020204" pitchFamily="34" charset="-122"/>
                            </a:rPr>
                            <m:t>𝑖</m:t>
                          </m:r>
                        </m:sub>
                      </m:sSub>
                    </m:oMath>
                  </m:oMathPara>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buFont typeface="Wingdings" pitchFamily="2" charset="2"/>
                  <a:buAutoNum type="arabicParenBoth" startAt="3"/>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Similar to the calculation of task response time, determining the consumer response time needs to combine the interference from both higher priority tasks and consumers. </a:t>
                </a:r>
                <a:endParaRPr lang="en-US" altLang="zh-CN" sz="2000" dirty="0">
                  <a:latin typeface="微软雅黑" panose="020B0503020204020204" pitchFamily="34" charset="-122"/>
                  <a:ea typeface="微软雅黑" panose="020B0503020204020204" pitchFamily="34" charset="-122"/>
                </a:endParaRPr>
              </a:p>
              <a:p>
                <a:pPr lvl="1"/>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ea typeface="微软雅黑" panose="020B0503020204020204" pitchFamily="34" charset="-122"/>
                            </a:rPr>
                          </m:ctrlPr>
                        </m:sSubSupPr>
                        <m:e>
                          <m:r>
                            <a:rPr lang="en-US" altLang="zh-CN" sz="2000" i="1">
                              <a:latin typeface="Cambria Math" panose="02040503050406030204" pitchFamily="18" charset="0"/>
                              <a:ea typeface="微软雅黑" panose="020B0503020204020204" pitchFamily="34" charset="-122"/>
                            </a:rPr>
                            <m:t>𝑇</m:t>
                          </m:r>
                        </m:e>
                        <m:sub>
                          <m:r>
                            <a:rPr lang="en-US" altLang="zh-CN" sz="2000" i="1">
                              <a:latin typeface="Cambria Math" panose="02040503050406030204" pitchFamily="18" charset="0"/>
                              <a:ea typeface="微软雅黑" panose="020B0503020204020204" pitchFamily="34" charset="-122"/>
                            </a:rPr>
                            <m:t>𝑖</m:t>
                          </m:r>
                        </m:sub>
                        <m:sup>
                          <m:r>
                            <a:rPr lang="en-US" altLang="zh-CN" sz="2000" i="1">
                              <a:latin typeface="Cambria Math" panose="02040503050406030204" pitchFamily="18" charset="0"/>
                              <a:ea typeface="微软雅黑" panose="020B0503020204020204" pitchFamily="34" charset="-122"/>
                            </a:rPr>
                            <m:t>𝑝</m:t>
                          </m:r>
                        </m:sup>
                      </m:sSubSup>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𝜖</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nary>
                        <m:naryPr>
                          <m:chr m:val="∑"/>
                          <m:supHide m:val="on"/>
                          <m:ctrlPr>
                            <a:rPr lang="en-US" altLang="zh-CN" sz="2000" i="1">
                              <a:latin typeface="Cambria Math" panose="02040503050406030204" pitchFamily="18" charset="0"/>
                              <a:ea typeface="微软雅黑" panose="020B0503020204020204" pitchFamily="34" charset="-122"/>
                            </a:rPr>
                          </m:ctrlPr>
                        </m:naryPr>
                        <m:sub>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𝜏</m:t>
                              </m:r>
                            </m:e>
                            <m:sub>
                              <m:r>
                                <a:rPr lang="en-US" altLang="zh-CN" sz="2000" i="1">
                                  <a:latin typeface="Cambria Math" panose="02040503050406030204" pitchFamily="18" charset="0"/>
                                  <a:ea typeface="微软雅黑" panose="020B0503020204020204" pitchFamily="34" charset="-122"/>
                                </a:rPr>
                                <m:t>𝑘</m:t>
                              </m:r>
                            </m:sub>
                          </m:sSub>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h</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𝑖</m:t>
                              </m:r>
                            </m:sub>
                          </m:sSub>
                        </m:sub>
                        <m:sup/>
                        <m:e>
                          <m:d>
                            <m:dPr>
                              <m:begChr m:val="⌈"/>
                              <m:endChr m:val="⌉"/>
                              <m:ctrlPr>
                                <a:rPr lang="en-US" altLang="zh-CN" sz="2000" i="1">
                                  <a:latin typeface="Cambria Math" panose="02040503050406030204" pitchFamily="18" charset="0"/>
                                  <a:ea typeface="微软雅黑" panose="020B0503020204020204" pitchFamily="34" charset="-122"/>
                                </a:rPr>
                              </m:ctrlPr>
                            </m:dPr>
                            <m:e>
                              <m:f>
                                <m:fPr>
                                  <m:ctrlPr>
                                    <a:rPr lang="en-US" altLang="zh-CN" sz="2000" i="1">
                                      <a:latin typeface="Cambria Math" panose="02040503050406030204" pitchFamily="18" charset="0"/>
                                      <a:ea typeface="微软雅黑" panose="020B0503020204020204" pitchFamily="34" charset="-122"/>
                                    </a:rPr>
                                  </m:ctrlPr>
                                </m:fPr>
                                <m:num>
                                  <m:sSubSup>
                                    <m:sSubSupPr>
                                      <m:ctrlPr>
                                        <a:rPr lang="en-US" altLang="zh-CN" sz="2000" i="1">
                                          <a:latin typeface="Cambria Math" panose="02040503050406030204" pitchFamily="18" charset="0"/>
                                          <a:ea typeface="微软雅黑" panose="020B0503020204020204" pitchFamily="34" charset="-122"/>
                                        </a:rPr>
                                      </m:ctrlPr>
                                    </m:sSubSupPr>
                                    <m:e>
                                      <m:r>
                                        <a:rPr lang="en-US" altLang="zh-CN" sz="2000" i="1">
                                          <a:latin typeface="Cambria Math" panose="02040503050406030204" pitchFamily="18" charset="0"/>
                                          <a:ea typeface="微软雅黑" panose="020B0503020204020204" pitchFamily="34" charset="-122"/>
                                        </a:rPr>
                                        <m:t>𝑇</m:t>
                                      </m:r>
                                    </m:e>
                                    <m:sub>
                                      <m:r>
                                        <a:rPr lang="en-US" altLang="zh-CN" sz="2000" i="1">
                                          <a:latin typeface="Cambria Math" panose="02040503050406030204" pitchFamily="18" charset="0"/>
                                          <a:ea typeface="微软雅黑" panose="020B0503020204020204" pitchFamily="34" charset="-122"/>
                                        </a:rPr>
                                        <m:t>𝑖</m:t>
                                      </m:r>
                                    </m:sub>
                                    <m:sup>
                                      <m:r>
                                        <a:rPr lang="en-US" altLang="zh-CN" sz="2000" i="1">
                                          <a:latin typeface="Cambria Math" panose="02040503050406030204" pitchFamily="18" charset="0"/>
                                          <a:ea typeface="微软雅黑" panose="020B0503020204020204" pitchFamily="34" charset="-122"/>
                                        </a:rPr>
                                        <m:t>𝑝</m:t>
                                      </m:r>
                                    </m:sup>
                                  </m:sSubSup>
                                </m:num>
                                <m:den>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𝑘</m:t>
                                      </m:r>
                                    </m:sub>
                                  </m:sSub>
                                </m:den>
                              </m:f>
                            </m:e>
                          </m:d>
                        </m:e>
                      </m:nary>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𝐸</m:t>
                          </m:r>
                        </m:e>
                        <m:sub>
                          <m:r>
                            <a:rPr lang="en-US" altLang="zh-CN" sz="2000" i="1">
                              <a:latin typeface="Cambria Math" panose="02040503050406030204" pitchFamily="18" charset="0"/>
                              <a:ea typeface="微软雅黑" panose="020B0503020204020204" pitchFamily="34" charset="-122"/>
                            </a:rPr>
                            <m:t>𝑘</m:t>
                          </m:r>
                        </m:sub>
                      </m:sSub>
                      <m:r>
                        <a:rPr lang="en-US" altLang="zh-CN" sz="2000" i="1">
                          <a:latin typeface="Cambria Math" panose="02040503050406030204" pitchFamily="18" charset="0"/>
                          <a:ea typeface="微软雅黑" panose="020B0503020204020204" pitchFamily="34" charset="-122"/>
                        </a:rPr>
                        <m:t>+</m:t>
                      </m:r>
                      <m:nary>
                        <m:naryPr>
                          <m:chr m:val="∑"/>
                          <m:supHide m:val="on"/>
                          <m:ctrlPr>
                            <a:rPr lang="en-US" altLang="zh-CN" sz="2000" i="1">
                              <a:latin typeface="Cambria Math" panose="02040503050406030204" pitchFamily="18" charset="0"/>
                              <a:ea typeface="微软雅黑" panose="020B0503020204020204" pitchFamily="34" charset="-122"/>
                            </a:rPr>
                          </m:ctrlPr>
                        </m:naryPr>
                        <m:sub>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𝜎</m:t>
                              </m:r>
                            </m:e>
                            <m:sub>
                              <m:r>
                                <a:rPr lang="en-US" altLang="zh-CN" sz="2000" i="1">
                                  <a:latin typeface="Cambria Math" panose="02040503050406030204" pitchFamily="18" charset="0"/>
                                  <a:ea typeface="微软雅黑" panose="020B0503020204020204" pitchFamily="34" charset="-122"/>
                                </a:rPr>
                                <m:t>𝑘</m:t>
                              </m:r>
                            </m:sub>
                          </m:sSub>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𝑐h</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𝜎</m:t>
                              </m:r>
                            </m:e>
                            <m:sub>
                              <m:r>
                                <a:rPr lang="en-US" altLang="zh-CN" sz="2000" i="1">
                                  <a:latin typeface="Cambria Math" panose="02040503050406030204" pitchFamily="18" charset="0"/>
                                  <a:ea typeface="微软雅黑" panose="020B0503020204020204" pitchFamily="34" charset="-122"/>
                                </a:rPr>
                                <m:t>𝑖</m:t>
                              </m:r>
                            </m:sub>
                          </m:sSub>
                        </m:sub>
                        <m:sup/>
                        <m:e>
                          <m:d>
                            <m:dPr>
                              <m:begChr m:val="⌈"/>
                              <m:endChr m:val="⌉"/>
                              <m:ctrlPr>
                                <a:rPr lang="en-US" altLang="zh-CN" sz="2000" i="1">
                                  <a:latin typeface="Cambria Math" panose="02040503050406030204" pitchFamily="18" charset="0"/>
                                  <a:ea typeface="微软雅黑" panose="020B0503020204020204" pitchFamily="34" charset="-122"/>
                                </a:rPr>
                              </m:ctrlPr>
                            </m:dPr>
                            <m:e>
                              <m:f>
                                <m:fPr>
                                  <m:ctrlPr>
                                    <a:rPr lang="en-US" altLang="zh-CN" sz="2000" i="1">
                                      <a:latin typeface="Cambria Math" panose="02040503050406030204" pitchFamily="18" charset="0"/>
                                      <a:ea typeface="微软雅黑" panose="020B0503020204020204" pitchFamily="34" charset="-122"/>
                                    </a:rPr>
                                  </m:ctrlPr>
                                </m:fPr>
                                <m:num>
                                  <m:sSubSup>
                                    <m:sSubSupPr>
                                      <m:ctrlPr>
                                        <a:rPr lang="en-US" altLang="zh-CN" sz="2000" i="1">
                                          <a:latin typeface="Cambria Math" panose="02040503050406030204" pitchFamily="18" charset="0"/>
                                          <a:ea typeface="微软雅黑" panose="020B0503020204020204" pitchFamily="34" charset="-122"/>
                                        </a:rPr>
                                      </m:ctrlPr>
                                    </m:sSubSupPr>
                                    <m:e>
                                      <m:r>
                                        <a:rPr lang="en-US" altLang="zh-CN" sz="2000" i="1">
                                          <a:latin typeface="Cambria Math" panose="02040503050406030204" pitchFamily="18" charset="0"/>
                                          <a:ea typeface="微软雅黑" panose="020B0503020204020204" pitchFamily="34" charset="-122"/>
                                        </a:rPr>
                                        <m:t>𝑇</m:t>
                                      </m:r>
                                    </m:e>
                                    <m:sub>
                                      <m:r>
                                        <a:rPr lang="en-US" altLang="zh-CN" sz="2000" i="1">
                                          <a:latin typeface="Cambria Math" panose="02040503050406030204" pitchFamily="18" charset="0"/>
                                          <a:ea typeface="微软雅黑" panose="020B0503020204020204" pitchFamily="34" charset="-122"/>
                                        </a:rPr>
                                        <m:t>𝑖</m:t>
                                      </m:r>
                                    </m:sub>
                                    <m:sup>
                                      <m:r>
                                        <a:rPr lang="en-US" altLang="zh-CN" sz="2000" i="1">
                                          <a:latin typeface="Cambria Math" panose="02040503050406030204" pitchFamily="18" charset="0"/>
                                          <a:ea typeface="微软雅黑" panose="020B0503020204020204" pitchFamily="34" charset="-122"/>
                                        </a:rPr>
                                        <m:t>𝑝</m:t>
                                      </m:r>
                                    </m:sup>
                                  </m:sSubSup>
                                </m:num>
                                <m:den>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𝑞</m:t>
                                      </m:r>
                                    </m:e>
                                    <m:sub>
                                      <m:r>
                                        <a:rPr lang="en-US" altLang="zh-CN" sz="2000" i="1">
                                          <a:latin typeface="Cambria Math" panose="02040503050406030204" pitchFamily="18" charset="0"/>
                                          <a:ea typeface="微软雅黑" panose="020B0503020204020204" pitchFamily="34" charset="-122"/>
                                        </a:rPr>
                                        <m:t>𝑘</m:t>
                                      </m:r>
                                    </m:sub>
                                  </m:sSub>
                                </m:den>
                              </m:f>
                            </m:e>
                          </m:d>
                        </m:e>
                      </m:nary>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𝜖</m:t>
                          </m:r>
                        </m:e>
                        <m:sub>
                          <m:r>
                            <a:rPr lang="en-US" altLang="zh-CN" sz="2000" i="1">
                              <a:latin typeface="Cambria Math" panose="02040503050406030204" pitchFamily="18" charset="0"/>
                              <a:ea typeface="微软雅黑" panose="020B0503020204020204" pitchFamily="34" charset="-122"/>
                            </a:rPr>
                            <m:t>𝑘</m:t>
                          </m:r>
                        </m:sub>
                      </m:sSub>
                    </m:oMath>
                  </m:oMathPara>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3" name="TextBox 8">
                <a:extLst>
                  <a:ext uri="{FF2B5EF4-FFF2-40B4-BE49-F238E27FC236}">
                    <a16:creationId xmlns:a16="http://schemas.microsoft.com/office/drawing/2014/main" id="{757834EE-853B-FF4C-9DAB-229C2BCF684D}"/>
                  </a:ext>
                </a:extLst>
              </p:cNvPr>
              <p:cNvSpPr txBox="1">
                <a:spLocks noRot="1" noChangeAspect="1" noMove="1" noResize="1" noEditPoints="1" noAdjustHandles="1" noChangeArrowheads="1" noChangeShapeType="1" noTextEdit="1"/>
              </p:cNvSpPr>
              <p:nvPr/>
            </p:nvSpPr>
            <p:spPr>
              <a:xfrm>
                <a:off x="485778" y="1281788"/>
                <a:ext cx="11446391" cy="3456074"/>
              </a:xfrm>
              <a:prstGeom prst="rect">
                <a:avLst/>
              </a:prstGeom>
              <a:blipFill>
                <a:blip r:embed="rId3"/>
                <a:stretch>
                  <a:fillRect l="-443" t="-733" b="-406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2351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DE04F6F-6C21-1F49-8775-F75737CACAC3}"/>
              </a:ext>
            </a:extLst>
          </p:cNvPr>
          <p:cNvPicPr>
            <a:picLocks noChangeAspect="1"/>
          </p:cNvPicPr>
          <p:nvPr/>
        </p:nvPicPr>
        <p:blipFill>
          <a:blip r:embed="rId3"/>
          <a:stretch>
            <a:fillRect/>
          </a:stretch>
        </p:blipFill>
        <p:spPr>
          <a:xfrm>
            <a:off x="3908685" y="2417282"/>
            <a:ext cx="4710659" cy="3903117"/>
          </a:xfrm>
          <a:prstGeom prst="rect">
            <a:avLst/>
          </a:prstGeom>
        </p:spPr>
      </p:pic>
      <p:sp>
        <p:nvSpPr>
          <p:cNvPr id="6" name="矩形: 圆角 5">
            <a:extLst>
              <a:ext uri="{FF2B5EF4-FFF2-40B4-BE49-F238E27FC236}">
                <a16:creationId xmlns:a16="http://schemas.microsoft.com/office/drawing/2014/main" id="{F2C3E982-40E8-1548-AA06-5964C684AAA3}"/>
              </a:ext>
            </a:extLst>
          </p:cNvPr>
          <p:cNvSpPr/>
          <p:nvPr/>
        </p:nvSpPr>
        <p:spPr>
          <a:xfrm>
            <a:off x="1994562" y="1214203"/>
            <a:ext cx="7953005" cy="1124263"/>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Consumer Period Selection</a:t>
            </a:r>
          </a:p>
          <a:p>
            <a:r>
              <a:rPr kumimoji="1" lang="en-US" altLang="zh-CN" sz="2000" dirty="0">
                <a:solidFill>
                  <a:schemeClr val="tx1"/>
                </a:solidFill>
                <a:latin typeface="Times New Roman" panose="02020603050405020304" pitchFamily="18" charset="0"/>
                <a:cs typeface="Times New Roman" panose="02020603050405020304" pitchFamily="18" charset="0"/>
              </a:rPr>
              <a:t>Use PSO algorithm to adjust the consumer invocation period of each task.</a:t>
            </a:r>
          </a:p>
          <a:p>
            <a:r>
              <a:rPr kumimoji="1" lang="en-US" altLang="zh-CN" sz="2000" dirty="0">
                <a:solidFill>
                  <a:schemeClr val="tx1"/>
                </a:solidFill>
                <a:latin typeface="Times New Roman" panose="02020603050405020304" pitchFamily="18" charset="0"/>
                <a:cs typeface="Times New Roman" panose="02020603050405020304" pitchFamily="18" charset="0"/>
              </a:rPr>
              <a:t>Optimize the event residence time while ensuring the system schedulability.</a:t>
            </a:r>
          </a:p>
        </p:txBody>
      </p:sp>
      <p:sp>
        <p:nvSpPr>
          <p:cNvPr id="2" name="标题 1">
            <a:extLst>
              <a:ext uri="{FF2B5EF4-FFF2-40B4-BE49-F238E27FC236}">
                <a16:creationId xmlns:a16="http://schemas.microsoft.com/office/drawing/2014/main" id="{98F593DD-EC8F-D240-B460-A20F772139A0}"/>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Response Time and Residence Time Analysis</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3265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5E412-1190-6C42-8C4C-5288C3E4427E}"/>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Evaluation</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1: Micro Benchmark</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3" name="表格 3">
            <a:extLst>
              <a:ext uri="{FF2B5EF4-FFF2-40B4-BE49-F238E27FC236}">
                <a16:creationId xmlns:a16="http://schemas.microsoft.com/office/drawing/2014/main" id="{079EB392-BB5B-0043-8BD5-7768B060450E}"/>
              </a:ext>
            </a:extLst>
          </p:cNvPr>
          <p:cNvGraphicFramePr>
            <a:graphicFrameLocks noGrp="1"/>
          </p:cNvGraphicFramePr>
          <p:nvPr>
            <p:extLst>
              <p:ext uri="{D42A27DB-BD31-4B8C-83A1-F6EECF244321}">
                <p14:modId xmlns:p14="http://schemas.microsoft.com/office/powerpoint/2010/main" val="2725939767"/>
              </p:ext>
            </p:extLst>
          </p:nvPr>
        </p:nvGraphicFramePr>
        <p:xfrm>
          <a:off x="2164169" y="2362027"/>
          <a:ext cx="7691182" cy="3169920"/>
        </p:xfrm>
        <a:graphic>
          <a:graphicData uri="http://schemas.openxmlformats.org/drawingml/2006/table">
            <a:tbl>
              <a:tblPr firstRow="1" bandRow="1">
                <a:tableStyleId>{5C22544A-7EE6-4342-B048-85BDC9FD1C3A}</a:tableStyleId>
              </a:tblPr>
              <a:tblGrid>
                <a:gridCol w="1852786">
                  <a:extLst>
                    <a:ext uri="{9D8B030D-6E8A-4147-A177-3AD203B41FA5}">
                      <a16:colId xmlns:a16="http://schemas.microsoft.com/office/drawing/2014/main" val="2256263704"/>
                    </a:ext>
                  </a:extLst>
                </a:gridCol>
                <a:gridCol w="910850">
                  <a:extLst>
                    <a:ext uri="{9D8B030D-6E8A-4147-A177-3AD203B41FA5}">
                      <a16:colId xmlns:a16="http://schemas.microsoft.com/office/drawing/2014/main" val="2365088961"/>
                    </a:ext>
                  </a:extLst>
                </a:gridCol>
                <a:gridCol w="1230309">
                  <a:extLst>
                    <a:ext uri="{9D8B030D-6E8A-4147-A177-3AD203B41FA5}">
                      <a16:colId xmlns:a16="http://schemas.microsoft.com/office/drawing/2014/main" val="3250481054"/>
                    </a:ext>
                  </a:extLst>
                </a:gridCol>
                <a:gridCol w="1073959">
                  <a:extLst>
                    <a:ext uri="{9D8B030D-6E8A-4147-A177-3AD203B41FA5}">
                      <a16:colId xmlns:a16="http://schemas.microsoft.com/office/drawing/2014/main" val="299421461"/>
                    </a:ext>
                  </a:extLst>
                </a:gridCol>
                <a:gridCol w="1454046">
                  <a:extLst>
                    <a:ext uri="{9D8B030D-6E8A-4147-A177-3AD203B41FA5}">
                      <a16:colId xmlns:a16="http://schemas.microsoft.com/office/drawing/2014/main" val="2209833267"/>
                    </a:ext>
                  </a:extLst>
                </a:gridCol>
                <a:gridCol w="1169232">
                  <a:extLst>
                    <a:ext uri="{9D8B030D-6E8A-4147-A177-3AD203B41FA5}">
                      <a16:colId xmlns:a16="http://schemas.microsoft.com/office/drawing/2014/main" val="262437732"/>
                    </a:ext>
                  </a:extLst>
                </a:gridCol>
              </a:tblGrid>
              <a:tr h="317947">
                <a:tc>
                  <a:txBody>
                    <a:bodyPr/>
                    <a:lstStyle/>
                    <a:p>
                      <a:pPr algn="ctr"/>
                      <a:endParaRPr lang="zh-CN" altLang="en-US" sz="20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0" dirty="0">
                          <a:solidFill>
                            <a:schemeClr val="tx1"/>
                          </a:solidFill>
                          <a:latin typeface="Times New Roman" panose="02020603050405020304" pitchFamily="18" charset="0"/>
                          <a:cs typeface="Times New Roman" panose="02020603050405020304" pitchFamily="18" charset="0"/>
                        </a:rPr>
                        <a:t>stat</a:t>
                      </a:r>
                      <a:endParaRPr lang="zh-CN" altLang="en-US" sz="20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0" dirty="0">
                          <a:solidFill>
                            <a:schemeClr val="tx1"/>
                          </a:solidFill>
                          <a:latin typeface="Times New Roman" panose="02020603050405020304" pitchFamily="18" charset="0"/>
                          <a:cs typeface="Times New Roman" panose="02020603050405020304" pitchFamily="18" charset="0"/>
                        </a:rPr>
                        <a:t>read</a:t>
                      </a:r>
                      <a:endParaRPr lang="zh-CN" altLang="en-US" sz="20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0" dirty="0">
                          <a:solidFill>
                            <a:schemeClr val="tx1"/>
                          </a:solidFill>
                          <a:latin typeface="Times New Roman" panose="02020603050405020304" pitchFamily="18" charset="0"/>
                          <a:cs typeface="Times New Roman" panose="02020603050405020304" pitchFamily="18" charset="0"/>
                        </a:rPr>
                        <a:t>write</a:t>
                      </a:r>
                      <a:endParaRPr lang="zh-CN" altLang="en-US" sz="20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0" dirty="0">
                          <a:solidFill>
                            <a:schemeClr val="tx1"/>
                          </a:solidFill>
                          <a:latin typeface="Times New Roman" panose="02020603050405020304" pitchFamily="18" charset="0"/>
                          <a:cs typeface="Times New Roman" panose="02020603050405020304" pitchFamily="18" charset="0"/>
                        </a:rPr>
                        <a:t>Open/close</a:t>
                      </a:r>
                      <a:endParaRPr lang="zh-CN" altLang="en-US" sz="20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0" dirty="0">
                          <a:solidFill>
                            <a:schemeClr val="tx1"/>
                          </a:solidFill>
                          <a:latin typeface="Times New Roman" panose="02020603050405020304" pitchFamily="18" charset="0"/>
                          <a:cs typeface="Times New Roman" panose="02020603050405020304" pitchFamily="18" charset="0"/>
                        </a:rPr>
                        <a:t>null</a:t>
                      </a:r>
                      <a:endParaRPr lang="zh-CN" altLang="en-US" sz="20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9493781"/>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Sysdig</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1.85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1.10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1.00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3.69</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0.86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77570010"/>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Sysdig-</a:t>
                      </a:r>
                      <a:r>
                        <a:rPr lang="en-US" altLang="zh-CN" sz="2000" dirty="0" err="1">
                          <a:solidFill>
                            <a:schemeClr val="tx1"/>
                          </a:solidFill>
                          <a:latin typeface="Times New Roman" panose="02020603050405020304" pitchFamily="18" charset="0"/>
                          <a:cs typeface="Times New Roman" panose="02020603050405020304" pitchFamily="18" charset="0"/>
                        </a:rPr>
                        <a:t>dropfree</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2.86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2.45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2.28</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6.01</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2.00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60274407"/>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OMNILOG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3.80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3.28</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3.19</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7.80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3.06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7171968"/>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Auditd</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9.21</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5.65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5.32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18.55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4.75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6898616"/>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Ellipsis</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7.37</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4.52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4.26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14.84</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3.80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7081715"/>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NODROP</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1.45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0.95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0.89</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2.88</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0.68</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54892110"/>
                  </a:ext>
                </a:extLst>
              </a:tr>
              <a:tr h="317947">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RT-NODROP</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1.61</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1.07</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1.00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3.16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0.76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8248851"/>
                  </a:ext>
                </a:extLst>
              </a:tr>
            </a:tbl>
          </a:graphicData>
        </a:graphic>
      </p:graphicFrame>
      <p:sp>
        <p:nvSpPr>
          <p:cNvPr id="5" name="矩形: 圆角 5">
            <a:extLst>
              <a:ext uri="{FF2B5EF4-FFF2-40B4-BE49-F238E27FC236}">
                <a16:creationId xmlns:a16="http://schemas.microsoft.com/office/drawing/2014/main" id="{E8A0FBB6-AEFB-704E-953B-9306D89CDC15}"/>
              </a:ext>
            </a:extLst>
          </p:cNvPr>
          <p:cNvSpPr/>
          <p:nvPr/>
        </p:nvSpPr>
        <p:spPr>
          <a:xfrm>
            <a:off x="318159" y="1214204"/>
            <a:ext cx="11539059" cy="794706"/>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Syscall performance:</a:t>
            </a:r>
            <a:r>
              <a:rPr kumimoji="1" lang="en-US" altLang="zh-CN" sz="2000" dirty="0">
                <a:solidFill>
                  <a:schemeClr val="tx1"/>
                </a:solidFill>
                <a:latin typeface="Times New Roman" panose="02020603050405020304" pitchFamily="18" charset="0"/>
                <a:cs typeface="Times New Roman" panose="02020603050405020304" pitchFamily="18" charset="0"/>
              </a:rPr>
              <a:t> The impact of RT-NODROP on syscalls is smaller than that of Sysdig and OMNILOG. The performance of RT-NODROP is up to </a:t>
            </a:r>
            <a:r>
              <a:rPr kumimoji="1" lang="en-US" altLang="zh-CN" sz="2000" b="1" dirty="0">
                <a:solidFill>
                  <a:srgbClr val="FF0000"/>
                </a:solidFill>
                <a:latin typeface="Times New Roman" panose="02020603050405020304" pitchFamily="18" charset="0"/>
                <a:cs typeface="Times New Roman" panose="02020603050405020304" pitchFamily="18" charset="0"/>
              </a:rPr>
              <a:t>4</a:t>
            </a:r>
            <a:r>
              <a:rPr kumimoji="1" lang="en-US" altLang="zh-CN" sz="2000" dirty="0">
                <a:solidFill>
                  <a:schemeClr val="tx1"/>
                </a:solidFill>
                <a:latin typeface="Times New Roman" panose="02020603050405020304" pitchFamily="18" charset="0"/>
                <a:cs typeface="Times New Roman" panose="02020603050405020304" pitchFamily="18" charset="0"/>
              </a:rPr>
              <a:t> times higher than that of Ellipsis. </a:t>
            </a:r>
          </a:p>
        </p:txBody>
      </p:sp>
      <p:sp>
        <p:nvSpPr>
          <p:cNvPr id="7" name="文本框 6">
            <a:extLst>
              <a:ext uri="{FF2B5EF4-FFF2-40B4-BE49-F238E27FC236}">
                <a16:creationId xmlns:a16="http://schemas.microsoft.com/office/drawing/2014/main" id="{42E88F6A-4E80-F1F6-9945-87C791FC4D3B}"/>
              </a:ext>
            </a:extLst>
          </p:cNvPr>
          <p:cNvSpPr txBox="1"/>
          <p:nvPr/>
        </p:nvSpPr>
        <p:spPr>
          <a:xfrm>
            <a:off x="3315855" y="5643796"/>
            <a:ext cx="6096000" cy="338554"/>
          </a:xfrm>
          <a:prstGeom prst="rect">
            <a:avLst/>
          </a:prstGeom>
          <a:noFill/>
        </p:spPr>
        <p:txBody>
          <a:bodyPr wrap="square">
            <a:spAutoFit/>
          </a:bodyPr>
          <a:lstStyle/>
          <a:p>
            <a:r>
              <a:rPr lang="en-US" altLang="zh-CN" sz="1600" dirty="0">
                <a:solidFill>
                  <a:srgbClr val="000000"/>
                </a:solidFill>
                <a:effectLst/>
                <a:latin typeface="Times New Roman" panose="02020603050405020304" pitchFamily="18" charset="0"/>
                <a:cs typeface="Times New Roman" panose="02020603050405020304" pitchFamily="18" charset="0"/>
              </a:rPr>
              <a:t>TABLE: </a:t>
            </a:r>
            <a:r>
              <a:rPr lang="en-US" altLang="zh-CN" sz="1600" dirty="0" err="1">
                <a:solidFill>
                  <a:srgbClr val="000000"/>
                </a:solidFill>
                <a:effectLst/>
                <a:latin typeface="Times New Roman" panose="02020603050405020304" pitchFamily="18" charset="0"/>
                <a:cs typeface="Times New Roman" panose="02020603050405020304" pitchFamily="18" charset="0"/>
              </a:rPr>
              <a:t>lmbench</a:t>
            </a:r>
            <a:r>
              <a:rPr lang="en-US" altLang="zh-CN" sz="1600" dirty="0">
                <a:solidFill>
                  <a:srgbClr val="000000"/>
                </a:solidFill>
                <a:effectLst/>
                <a:latin typeface="Times New Roman" panose="02020603050405020304" pitchFamily="18" charset="0"/>
                <a:cs typeface="Times New Roman" panose="02020603050405020304" pitchFamily="18" charset="0"/>
              </a:rPr>
              <a:t> results in microsecond. </a:t>
            </a:r>
            <a:r>
              <a:rPr lang="en-US" altLang="zh-CN" sz="1600" i="1" dirty="0">
                <a:solidFill>
                  <a:srgbClr val="000000"/>
                </a:solidFill>
                <a:effectLst/>
                <a:latin typeface="Times New Roman" panose="02020603050405020304" pitchFamily="18" charset="0"/>
                <a:cs typeface="Times New Roman" panose="02020603050405020304" pitchFamily="18" charset="0"/>
              </a:rPr>
              <a:t>Smaller is better</a:t>
            </a:r>
            <a:r>
              <a:rPr lang="en-US" altLang="zh-CN" sz="1600" dirty="0">
                <a:solidFill>
                  <a:srgbClr val="000000"/>
                </a:solidFill>
                <a:effectLst/>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168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5E412-1190-6C42-8C4C-5288C3E4427E}"/>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Evaluation</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2: Schedulability and Event Residence Time</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7" name="表格 3">
            <a:extLst>
              <a:ext uri="{FF2B5EF4-FFF2-40B4-BE49-F238E27FC236}">
                <a16:creationId xmlns:a16="http://schemas.microsoft.com/office/drawing/2014/main" id="{B60109F0-BA04-114E-B8A8-FEE10C57A23E}"/>
              </a:ext>
            </a:extLst>
          </p:cNvPr>
          <p:cNvGraphicFramePr>
            <a:graphicFrameLocks noGrp="1"/>
          </p:cNvGraphicFramePr>
          <p:nvPr>
            <p:extLst>
              <p:ext uri="{D42A27DB-BD31-4B8C-83A1-F6EECF244321}">
                <p14:modId xmlns:p14="http://schemas.microsoft.com/office/powerpoint/2010/main" val="3736152148"/>
              </p:ext>
            </p:extLst>
          </p:nvPr>
        </p:nvGraphicFramePr>
        <p:xfrm>
          <a:off x="5768432" y="4553596"/>
          <a:ext cx="5325131" cy="1524772"/>
        </p:xfrm>
        <a:graphic>
          <a:graphicData uri="http://schemas.openxmlformats.org/drawingml/2006/table">
            <a:tbl>
              <a:tblPr firstRow="1" bandRow="1">
                <a:tableStyleId>{5C22544A-7EE6-4342-B048-85BDC9FD1C3A}</a:tableStyleId>
              </a:tblPr>
              <a:tblGrid>
                <a:gridCol w="1213817">
                  <a:extLst>
                    <a:ext uri="{9D8B030D-6E8A-4147-A177-3AD203B41FA5}">
                      <a16:colId xmlns:a16="http://schemas.microsoft.com/office/drawing/2014/main" val="2256263704"/>
                    </a:ext>
                  </a:extLst>
                </a:gridCol>
                <a:gridCol w="966574">
                  <a:extLst>
                    <a:ext uri="{9D8B030D-6E8A-4147-A177-3AD203B41FA5}">
                      <a16:colId xmlns:a16="http://schemas.microsoft.com/office/drawing/2014/main" val="2365088961"/>
                    </a:ext>
                  </a:extLst>
                </a:gridCol>
                <a:gridCol w="987605">
                  <a:extLst>
                    <a:ext uri="{9D8B030D-6E8A-4147-A177-3AD203B41FA5}">
                      <a16:colId xmlns:a16="http://schemas.microsoft.com/office/drawing/2014/main" val="3250481054"/>
                    </a:ext>
                  </a:extLst>
                </a:gridCol>
                <a:gridCol w="1091564">
                  <a:extLst>
                    <a:ext uri="{9D8B030D-6E8A-4147-A177-3AD203B41FA5}">
                      <a16:colId xmlns:a16="http://schemas.microsoft.com/office/drawing/2014/main" val="299421461"/>
                    </a:ext>
                  </a:extLst>
                </a:gridCol>
                <a:gridCol w="1065571">
                  <a:extLst>
                    <a:ext uri="{9D8B030D-6E8A-4147-A177-3AD203B41FA5}">
                      <a16:colId xmlns:a16="http://schemas.microsoft.com/office/drawing/2014/main" val="2209833267"/>
                    </a:ext>
                  </a:extLst>
                </a:gridCol>
              </a:tblGrid>
              <a:tr h="298775">
                <a:tc>
                  <a:txBody>
                    <a:bodyPr/>
                    <a:lstStyle/>
                    <a:p>
                      <a:pPr algn="ctr"/>
                      <a:endParaRPr lang="zh-CN" altLang="en-US" sz="14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latin typeface="Times New Roman" panose="02020603050405020304" pitchFamily="18" charset="0"/>
                          <a:cs typeface="Times New Roman" panose="02020603050405020304" pitchFamily="18" charset="0"/>
                        </a:rPr>
                        <a:t>fig. 4(a)</a:t>
                      </a:r>
                      <a:endParaRPr lang="zh-CN" altLang="en-US" sz="14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solidFill>
                            <a:schemeClr val="tx1"/>
                          </a:solidFill>
                          <a:latin typeface="Times New Roman" panose="02020603050405020304" pitchFamily="18" charset="0"/>
                          <a:cs typeface="Times New Roman" panose="02020603050405020304" pitchFamily="18" charset="0"/>
                        </a:rPr>
                        <a:t>fig. 4(b)</a:t>
                      </a:r>
                      <a:endParaRPr lang="zh-CN" altLang="en-US" sz="14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solidFill>
                            <a:schemeClr val="tx1"/>
                          </a:solidFill>
                          <a:latin typeface="Times New Roman" panose="02020603050405020304" pitchFamily="18" charset="0"/>
                          <a:cs typeface="Times New Roman" panose="02020603050405020304" pitchFamily="18" charset="0"/>
                        </a:rPr>
                        <a:t>fig. 4(c)</a:t>
                      </a:r>
                      <a:endParaRPr lang="zh-CN" altLang="en-US" sz="14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solidFill>
                            <a:schemeClr val="tx1"/>
                          </a:solidFill>
                          <a:latin typeface="Times New Roman" panose="02020603050405020304" pitchFamily="18" charset="0"/>
                          <a:cs typeface="Times New Roman" panose="02020603050405020304" pitchFamily="18" charset="0"/>
                        </a:rPr>
                        <a:t>fig. 4(d)</a:t>
                      </a:r>
                    </a:p>
                  </a:txBody>
                  <a:tcPr>
                    <a:lnL w="12700" cmpd="sng">
                      <a:noFill/>
                    </a:lnL>
                    <a:lnR w="12700" cmpd="sng">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9493781"/>
                  </a:ext>
                </a:extLst>
              </a:tr>
              <a:tr h="298775">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Sysdig</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0.67%</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3.24%</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24.15%</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18.45%</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77570010"/>
                  </a:ext>
                </a:extLst>
              </a:tr>
              <a:tr h="273008">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OMNILOG</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8.85%</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26.24%</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32.38%</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20.54%</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7171968"/>
                  </a:ext>
                </a:extLst>
              </a:tr>
              <a:tr h="273008">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Auditd</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32.30%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80.00%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1342.85%</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1948.73%</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6898616"/>
                  </a:ext>
                </a:extLst>
              </a:tr>
              <a:tr h="305572">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Ellipsis</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0.35%</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1.71%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18.82%</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Times New Roman" panose="02020603050405020304" pitchFamily="18" charset="0"/>
                          <a:cs typeface="Times New Roman" panose="02020603050405020304" pitchFamily="18" charset="0"/>
                        </a:rPr>
                        <a:t>13.67%</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8248851"/>
                  </a:ext>
                </a:extLst>
              </a:tr>
            </a:tbl>
          </a:graphicData>
        </a:graphic>
      </p:graphicFrame>
      <p:sp>
        <p:nvSpPr>
          <p:cNvPr id="8" name="矩形: 圆角 5">
            <a:extLst>
              <a:ext uri="{FF2B5EF4-FFF2-40B4-BE49-F238E27FC236}">
                <a16:creationId xmlns:a16="http://schemas.microsoft.com/office/drawing/2014/main" id="{0808B5BF-6AE1-C349-9787-83D8C042FB95}"/>
              </a:ext>
            </a:extLst>
          </p:cNvPr>
          <p:cNvSpPr/>
          <p:nvPr/>
        </p:nvSpPr>
        <p:spPr>
          <a:xfrm>
            <a:off x="377213" y="1378783"/>
            <a:ext cx="4139369" cy="810235"/>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en-US" altLang="zh-CN" sz="2000" b="1" dirty="0">
                <a:solidFill>
                  <a:srgbClr val="4D7D2B"/>
                </a:solidFill>
                <a:latin typeface="Times New Roman" panose="02020603050405020304" pitchFamily="18" charset="0"/>
                <a:cs typeface="Times New Roman" panose="02020603050405020304" pitchFamily="18" charset="0"/>
              </a:rPr>
              <a:t>Schedulability:</a:t>
            </a:r>
            <a:r>
              <a:rPr kumimoji="1" lang="en-US" altLang="zh-CN" sz="2000" dirty="0">
                <a:solidFill>
                  <a:schemeClr val="tx1"/>
                </a:solidFill>
                <a:latin typeface="Times New Roman" panose="02020603050405020304" pitchFamily="18" charset="0"/>
                <a:cs typeface="Times New Roman" panose="02020603050405020304" pitchFamily="18" charset="0"/>
              </a:rPr>
              <a:t> </a:t>
            </a:r>
            <a:r>
              <a:rPr kumimoji="1" lang="en-US" altLang="zh-CN" sz="2000" b="1" dirty="0">
                <a:solidFill>
                  <a:schemeClr val="tx1"/>
                </a:solidFill>
                <a:latin typeface="Times New Roman" panose="02020603050405020304" pitchFamily="18" charset="0"/>
                <a:cs typeface="Times New Roman" panose="02020603050405020304" pitchFamily="18" charset="0"/>
              </a:rPr>
              <a:t>RT-NODROP</a:t>
            </a:r>
            <a:r>
              <a:rPr kumimoji="1" lang="en-US" altLang="zh-CN" sz="2000" dirty="0">
                <a:solidFill>
                  <a:schemeClr val="tx1"/>
                </a:solidFill>
                <a:latin typeface="Times New Roman" panose="02020603050405020304" pitchFamily="18" charset="0"/>
                <a:cs typeface="Times New Roman" panose="02020603050405020304" pitchFamily="18" charset="0"/>
              </a:rPr>
              <a:t> is </a:t>
            </a:r>
            <a:r>
              <a:rPr kumimoji="1" lang="en-US" altLang="zh-CN" sz="2000" b="1" dirty="0">
                <a:solidFill>
                  <a:srgbClr val="FF0000"/>
                </a:solidFill>
                <a:latin typeface="Times New Roman" panose="02020603050405020304" pitchFamily="18" charset="0"/>
                <a:cs typeface="Times New Roman" panose="02020603050405020304" pitchFamily="18" charset="0"/>
              </a:rPr>
              <a:t>superior over SOTA</a:t>
            </a:r>
            <a:r>
              <a:rPr kumimoji="1" lang="en-US" altLang="zh-CN" sz="2000" dirty="0">
                <a:solidFill>
                  <a:schemeClr val="tx1"/>
                </a:solidFill>
                <a:latin typeface="Times New Roman" panose="02020603050405020304" pitchFamily="18" charset="0"/>
                <a:cs typeface="Times New Roman" panose="02020603050405020304" pitchFamily="18" charset="0"/>
              </a:rPr>
              <a:t> frameworks.</a:t>
            </a:r>
          </a:p>
        </p:txBody>
      </p:sp>
      <p:sp>
        <p:nvSpPr>
          <p:cNvPr id="10" name="矩形: 圆角 5">
            <a:extLst>
              <a:ext uri="{FF2B5EF4-FFF2-40B4-BE49-F238E27FC236}">
                <a16:creationId xmlns:a16="http://schemas.microsoft.com/office/drawing/2014/main" id="{961D33C7-31C2-0042-91F1-B17B4B8CC9AF}"/>
              </a:ext>
            </a:extLst>
          </p:cNvPr>
          <p:cNvSpPr/>
          <p:nvPr/>
        </p:nvSpPr>
        <p:spPr>
          <a:xfrm>
            <a:off x="377564" y="2611838"/>
            <a:ext cx="4140000" cy="810000"/>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en-US" altLang="zh-CN" sz="2000" b="1" dirty="0">
                <a:solidFill>
                  <a:srgbClr val="4D7D2B"/>
                </a:solidFill>
                <a:latin typeface="Times New Roman" panose="02020603050405020304" pitchFamily="18" charset="0"/>
                <a:cs typeface="Times New Roman" panose="02020603050405020304" pitchFamily="18" charset="0"/>
              </a:rPr>
              <a:t>Event residence time:</a:t>
            </a:r>
            <a:r>
              <a:rPr kumimoji="1" lang="en-US" altLang="zh-CN" sz="2000" dirty="0">
                <a:solidFill>
                  <a:schemeClr val="tx1"/>
                </a:solidFill>
                <a:latin typeface="Times New Roman" panose="02020603050405020304" pitchFamily="18" charset="0"/>
                <a:cs typeface="Times New Roman" panose="02020603050405020304" pitchFamily="18" charset="0"/>
              </a:rPr>
              <a:t> Remains</a:t>
            </a:r>
            <a:r>
              <a:rPr kumimoji="1" lang="zh-CN" altLang="en-US" sz="2000" dirty="0">
                <a:solidFill>
                  <a:schemeClr val="tx1"/>
                </a:solidFill>
                <a:latin typeface="Times New Roman" panose="02020603050405020304" pitchFamily="18" charset="0"/>
                <a:cs typeface="Times New Roman" panose="02020603050405020304" pitchFamily="18" charset="0"/>
              </a:rPr>
              <a:t> </a:t>
            </a:r>
            <a:r>
              <a:rPr kumimoji="1" lang="en-US" altLang="zh-CN" sz="2000" dirty="0">
                <a:solidFill>
                  <a:schemeClr val="tx1"/>
                </a:solidFill>
                <a:latin typeface="Times New Roman" panose="02020603050405020304" pitchFamily="18" charset="0"/>
                <a:cs typeface="Times New Roman" panose="02020603050405020304" pitchFamily="18" charset="0"/>
              </a:rPr>
              <a:t>stable, consistently around </a:t>
            </a:r>
            <a:r>
              <a:rPr kumimoji="1" lang="en-US" altLang="zh-CN" sz="2000" b="1" dirty="0">
                <a:solidFill>
                  <a:srgbClr val="FF0000"/>
                </a:solidFill>
                <a:latin typeface="Times New Roman" panose="02020603050405020304" pitchFamily="18" charset="0"/>
                <a:cs typeface="Times New Roman" panose="02020603050405020304" pitchFamily="18" charset="0"/>
              </a:rPr>
              <a:t>10ms</a:t>
            </a:r>
            <a:r>
              <a:rPr kumimoji="1" lang="en-US" altLang="zh-CN" sz="2000" dirty="0">
                <a:solidFill>
                  <a:schemeClr val="tx1"/>
                </a:solidFill>
                <a:latin typeface="Times New Roman" panose="02020603050405020304" pitchFamily="18" charset="0"/>
                <a:cs typeface="Times New Roman" panose="02020603050405020304" pitchFamily="18" charset="0"/>
              </a:rPr>
              <a:t>.</a:t>
            </a:r>
          </a:p>
        </p:txBody>
      </p:sp>
      <p:sp>
        <p:nvSpPr>
          <p:cNvPr id="11" name="矩形: 圆角 5">
            <a:extLst>
              <a:ext uri="{FF2B5EF4-FFF2-40B4-BE49-F238E27FC236}">
                <a16:creationId xmlns:a16="http://schemas.microsoft.com/office/drawing/2014/main" id="{E4F0746C-EE74-0545-A75E-AD807D7575E6}"/>
              </a:ext>
            </a:extLst>
          </p:cNvPr>
          <p:cNvSpPr/>
          <p:nvPr/>
        </p:nvSpPr>
        <p:spPr>
          <a:xfrm>
            <a:off x="377999" y="4668983"/>
            <a:ext cx="4831309" cy="1351309"/>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dirty="0">
                <a:solidFill>
                  <a:schemeClr val="tx1"/>
                </a:solidFill>
                <a:latin typeface="Times New Roman" panose="02020603050405020304" pitchFamily="18" charset="0"/>
                <a:cs typeface="Times New Roman" panose="02020603050405020304" pitchFamily="18" charset="0"/>
              </a:rPr>
              <a:t>On average, </a:t>
            </a:r>
            <a:r>
              <a:rPr kumimoji="1" lang="en-US" altLang="zh-CN" sz="2000" b="1" dirty="0">
                <a:solidFill>
                  <a:schemeClr val="tx1"/>
                </a:solidFill>
                <a:latin typeface="Times New Roman" panose="02020603050405020304" pitchFamily="18" charset="0"/>
                <a:cs typeface="Times New Roman" panose="02020603050405020304" pitchFamily="18" charset="0"/>
              </a:rPr>
              <a:t>RT-NODROP</a:t>
            </a:r>
            <a:r>
              <a:rPr kumimoji="1" lang="en-US" altLang="zh-CN" sz="2000" dirty="0">
                <a:solidFill>
                  <a:schemeClr val="tx1"/>
                </a:solidFill>
                <a:latin typeface="Times New Roman" panose="02020603050405020304" pitchFamily="18" charset="0"/>
                <a:cs typeface="Times New Roman" panose="02020603050405020304" pitchFamily="18" charset="0"/>
              </a:rPr>
              <a:t> outperforms Sysdig (OMNILOG) by </a:t>
            </a:r>
            <a:r>
              <a:rPr kumimoji="1" lang="en-US" altLang="zh-CN" sz="2000" b="1" dirty="0">
                <a:solidFill>
                  <a:srgbClr val="FF0000"/>
                </a:solidFill>
                <a:latin typeface="Times New Roman" panose="02020603050405020304" pitchFamily="18" charset="0"/>
                <a:cs typeface="Times New Roman" panose="02020603050405020304" pitchFamily="18" charset="0"/>
              </a:rPr>
              <a:t>11.63% (21.98%)</a:t>
            </a:r>
            <a:r>
              <a:rPr kumimoji="1" lang="en-US" altLang="zh-CN" sz="2000" dirty="0">
                <a:solidFill>
                  <a:schemeClr val="tx1"/>
                </a:solidFill>
                <a:latin typeface="Times New Roman" panose="02020603050405020304" pitchFamily="18" charset="0"/>
                <a:cs typeface="Times New Roman" panose="02020603050405020304" pitchFamily="18" charset="0"/>
              </a:rPr>
              <a:t> and outperforms Ellipsis (Auditd) by </a:t>
            </a:r>
            <a:r>
              <a:rPr kumimoji="1" lang="en-US" altLang="zh-CN" sz="2000" b="1" dirty="0">
                <a:solidFill>
                  <a:srgbClr val="FF0000"/>
                </a:solidFill>
                <a:latin typeface="Times New Roman" panose="02020603050405020304" pitchFamily="18" charset="0"/>
                <a:cs typeface="Times New Roman" panose="02020603050405020304" pitchFamily="18" charset="0"/>
              </a:rPr>
              <a:t>8.64% (850.97%)</a:t>
            </a:r>
            <a:r>
              <a:rPr kumimoji="1" lang="en-US" altLang="zh-CN" sz="2000" dirty="0">
                <a:solidFill>
                  <a:schemeClr val="tx1"/>
                </a:solidFill>
                <a:latin typeface="Times New Roman" panose="02020603050405020304" pitchFamily="18" charset="0"/>
                <a:cs typeface="Times New Roman" panose="02020603050405020304" pitchFamily="18" charset="0"/>
              </a:rPr>
              <a:t>.</a:t>
            </a:r>
          </a:p>
        </p:txBody>
      </p:sp>
      <p:pic>
        <p:nvPicPr>
          <p:cNvPr id="4" name="图片 3">
            <a:extLst>
              <a:ext uri="{FF2B5EF4-FFF2-40B4-BE49-F238E27FC236}">
                <a16:creationId xmlns:a16="http://schemas.microsoft.com/office/drawing/2014/main" id="{EF902077-4667-018A-AA9D-64EBDE6B4DDA}"/>
              </a:ext>
            </a:extLst>
          </p:cNvPr>
          <p:cNvPicPr>
            <a:picLocks noChangeAspect="1"/>
          </p:cNvPicPr>
          <p:nvPr/>
        </p:nvPicPr>
        <p:blipFill>
          <a:blip r:embed="rId3"/>
          <a:stretch>
            <a:fillRect/>
          </a:stretch>
        </p:blipFill>
        <p:spPr>
          <a:xfrm>
            <a:off x="4685260" y="1100441"/>
            <a:ext cx="6874417" cy="3022793"/>
          </a:xfrm>
          <a:prstGeom prst="rect">
            <a:avLst/>
          </a:prstGeom>
        </p:spPr>
      </p:pic>
      <p:sp>
        <p:nvSpPr>
          <p:cNvPr id="9" name="文本框 8">
            <a:extLst>
              <a:ext uri="{FF2B5EF4-FFF2-40B4-BE49-F238E27FC236}">
                <a16:creationId xmlns:a16="http://schemas.microsoft.com/office/drawing/2014/main" id="{F3A23FAE-BEDB-7B47-EE54-B0A17243C62F}"/>
              </a:ext>
            </a:extLst>
          </p:cNvPr>
          <p:cNvSpPr txBox="1"/>
          <p:nvPr/>
        </p:nvSpPr>
        <p:spPr>
          <a:xfrm>
            <a:off x="5957455" y="4057554"/>
            <a:ext cx="6096000" cy="338554"/>
          </a:xfrm>
          <a:prstGeom prst="rect">
            <a:avLst/>
          </a:prstGeom>
          <a:noFill/>
        </p:spPr>
        <p:txBody>
          <a:bodyPr wrap="square">
            <a:spAutoFit/>
          </a:bodyPr>
          <a:lstStyle/>
          <a:p>
            <a:r>
              <a:rPr lang="en-US" altLang="zh-CN" sz="1600" dirty="0">
                <a:solidFill>
                  <a:srgbClr val="000000"/>
                </a:solidFill>
                <a:effectLst/>
                <a:latin typeface="Times New Roman" panose="02020603050405020304" pitchFamily="18" charset="0"/>
                <a:cs typeface="Times New Roman" panose="02020603050405020304" pitchFamily="18" charset="0"/>
              </a:rPr>
              <a:t>Figure: Response time and event residence time analysis.</a:t>
            </a:r>
            <a:endParaRPr lang="zh-CN" altLang="en-US" sz="16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D8EF2C11-721F-636D-4482-E4CAF65C403D}"/>
              </a:ext>
            </a:extLst>
          </p:cNvPr>
          <p:cNvSpPr txBox="1"/>
          <p:nvPr/>
        </p:nvSpPr>
        <p:spPr>
          <a:xfrm>
            <a:off x="6982691" y="6078368"/>
            <a:ext cx="6096000"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TABLE: SUA improvement</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984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5E412-1190-6C42-8C4C-5288C3E4427E}"/>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Evaluation</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3: Real-world Application (</a:t>
            </a:r>
            <a:r>
              <a:rPr kumimoji="1" lang="en-US" altLang="zh-CN" i="1" dirty="0">
                <a:latin typeface="Times New Roman" panose="02020603050405020304" pitchFamily="18" charset="0"/>
                <a:cs typeface="Times New Roman" panose="02020603050405020304" pitchFamily="18" charset="0"/>
              </a:rPr>
              <a:t>Redis)</a:t>
            </a:r>
            <a:endParaRPr kumimoji="1" lang="zh-CN" altLang="en-US" i="1" dirty="0">
              <a:latin typeface="Times New Roman" panose="02020603050405020304" pitchFamily="18" charset="0"/>
              <a:cs typeface="Times New Roman" panose="02020603050405020304" pitchFamily="18" charset="0"/>
            </a:endParaRPr>
          </a:p>
        </p:txBody>
      </p:sp>
      <p:sp>
        <p:nvSpPr>
          <p:cNvPr id="8" name="矩形: 圆角 5">
            <a:extLst>
              <a:ext uri="{FF2B5EF4-FFF2-40B4-BE49-F238E27FC236}">
                <a16:creationId xmlns:a16="http://schemas.microsoft.com/office/drawing/2014/main" id="{0808B5BF-6AE1-C349-9787-83D8C042FB95}"/>
              </a:ext>
            </a:extLst>
          </p:cNvPr>
          <p:cNvSpPr/>
          <p:nvPr/>
        </p:nvSpPr>
        <p:spPr>
          <a:xfrm>
            <a:off x="318159" y="1214203"/>
            <a:ext cx="11539059" cy="1124263"/>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RT-NODROP</a:t>
            </a:r>
            <a:r>
              <a:rPr kumimoji="1" lang="en-US" altLang="zh-CN" sz="2000" dirty="0">
                <a:solidFill>
                  <a:schemeClr val="tx1"/>
                </a:solidFill>
                <a:latin typeface="Times New Roman" panose="02020603050405020304" pitchFamily="18" charset="0"/>
                <a:cs typeface="Times New Roman" panose="02020603050405020304" pitchFamily="18" charset="0"/>
              </a:rPr>
              <a:t> achieves up to </a:t>
            </a:r>
            <a:r>
              <a:rPr kumimoji="1" lang="en-US" altLang="zh-CN" sz="2000" b="1" dirty="0">
                <a:solidFill>
                  <a:srgbClr val="FF0000"/>
                </a:solidFill>
                <a:latin typeface="Times New Roman" panose="02020603050405020304" pitchFamily="18" charset="0"/>
                <a:cs typeface="Times New Roman" panose="02020603050405020304" pitchFamily="18" charset="0"/>
              </a:rPr>
              <a:t>75.1% (138.86%, 324.6%)</a:t>
            </a:r>
            <a:r>
              <a:rPr kumimoji="1" lang="en-US" altLang="zh-CN" sz="2000" dirty="0">
                <a:solidFill>
                  <a:srgbClr val="FF0000"/>
                </a:solidFill>
                <a:latin typeface="Times New Roman" panose="02020603050405020304" pitchFamily="18" charset="0"/>
                <a:cs typeface="Times New Roman" panose="02020603050405020304" pitchFamily="18" charset="0"/>
              </a:rPr>
              <a:t> </a:t>
            </a:r>
            <a:r>
              <a:rPr kumimoji="1" lang="en-US" altLang="zh-CN" sz="2000" dirty="0">
                <a:solidFill>
                  <a:schemeClr val="tx1"/>
                </a:solidFill>
                <a:latin typeface="Times New Roman" panose="02020603050405020304" pitchFamily="18" charset="0"/>
                <a:cs typeface="Times New Roman" panose="02020603050405020304" pitchFamily="18" charset="0"/>
              </a:rPr>
              <a:t>higher throughput and </a:t>
            </a:r>
            <a:r>
              <a:rPr kumimoji="1" lang="en-US" altLang="zh-CN" sz="2000" b="1" dirty="0">
                <a:solidFill>
                  <a:srgbClr val="FF0000"/>
                </a:solidFill>
                <a:latin typeface="Times New Roman" panose="02020603050405020304" pitchFamily="18" charset="0"/>
                <a:cs typeface="Times New Roman" panose="02020603050405020304" pitchFamily="18" charset="0"/>
              </a:rPr>
              <a:t>2.19× (3.07×, 5.02x)</a:t>
            </a:r>
            <a:r>
              <a:rPr kumimoji="1" lang="en-US" altLang="zh-CN" sz="2000" dirty="0">
                <a:solidFill>
                  <a:srgbClr val="FF0000"/>
                </a:solidFill>
                <a:latin typeface="Times New Roman" panose="02020603050405020304" pitchFamily="18" charset="0"/>
                <a:cs typeface="Times New Roman" panose="02020603050405020304" pitchFamily="18" charset="0"/>
              </a:rPr>
              <a:t> </a:t>
            </a:r>
            <a:r>
              <a:rPr kumimoji="1" lang="en-US" altLang="zh-CN" sz="2000" dirty="0">
                <a:solidFill>
                  <a:schemeClr val="tx1"/>
                </a:solidFill>
                <a:latin typeface="Times New Roman" panose="02020603050405020304" pitchFamily="18" charset="0"/>
                <a:cs typeface="Times New Roman" panose="02020603050405020304" pitchFamily="18" charset="0"/>
              </a:rPr>
              <a:t>lower 99.9th percentile tail latency than Sysdig (OMNILOG, Ellipsis).</a:t>
            </a:r>
          </a:p>
          <a:p>
            <a:r>
              <a:rPr kumimoji="1" lang="en-US" altLang="zh-CN" sz="2000" dirty="0">
                <a:solidFill>
                  <a:schemeClr val="tx1"/>
                </a:solidFill>
                <a:latin typeface="Times New Roman" panose="02020603050405020304" pitchFamily="18" charset="0"/>
                <a:cs typeface="Times New Roman" panose="02020603050405020304" pitchFamily="18" charset="0"/>
              </a:rPr>
              <a:t>RT-NODROP maintains a minimum event residence time around </a:t>
            </a:r>
            <a:r>
              <a:rPr kumimoji="1" lang="en-US" altLang="zh-CN" sz="2000" b="1" dirty="0">
                <a:solidFill>
                  <a:srgbClr val="FF0000"/>
                </a:solidFill>
                <a:latin typeface="Times New Roman" panose="02020603050405020304" pitchFamily="18" charset="0"/>
                <a:cs typeface="Times New Roman" panose="02020603050405020304" pitchFamily="18" charset="0"/>
              </a:rPr>
              <a:t>10ms</a:t>
            </a:r>
            <a:r>
              <a:rPr kumimoji="1" lang="en-US" altLang="zh-CN" sz="2000" dirty="0">
                <a:solidFill>
                  <a:schemeClr val="tx1"/>
                </a:solidFill>
                <a:latin typeface="Times New Roman" panose="02020603050405020304" pitchFamily="18" charset="0"/>
                <a:cs typeface="Times New Roman" panose="02020603050405020304" pitchFamily="18" charset="0"/>
              </a:rPr>
              <a:t> without event dropping. </a:t>
            </a:r>
          </a:p>
        </p:txBody>
      </p:sp>
      <p:grpSp>
        <p:nvGrpSpPr>
          <p:cNvPr id="11" name="组合 10">
            <a:extLst>
              <a:ext uri="{FF2B5EF4-FFF2-40B4-BE49-F238E27FC236}">
                <a16:creationId xmlns:a16="http://schemas.microsoft.com/office/drawing/2014/main" id="{11A0DE35-C3C7-3448-8B43-FD2AB4C0CE8F}"/>
              </a:ext>
            </a:extLst>
          </p:cNvPr>
          <p:cNvGrpSpPr/>
          <p:nvPr/>
        </p:nvGrpSpPr>
        <p:grpSpPr>
          <a:xfrm>
            <a:off x="2760455" y="2430004"/>
            <a:ext cx="6739309" cy="3473639"/>
            <a:chOff x="2288500" y="2361472"/>
            <a:chExt cx="7471100" cy="3930126"/>
          </a:xfrm>
        </p:grpSpPr>
        <p:pic>
          <p:nvPicPr>
            <p:cNvPr id="4" name="图片 3">
              <a:extLst>
                <a:ext uri="{FF2B5EF4-FFF2-40B4-BE49-F238E27FC236}">
                  <a16:creationId xmlns:a16="http://schemas.microsoft.com/office/drawing/2014/main" id="{87CCFAFD-0FA4-3944-B9C0-89BFAD5736B4}"/>
                </a:ext>
              </a:extLst>
            </p:cNvPr>
            <p:cNvPicPr>
              <a:picLocks noChangeAspect="1"/>
            </p:cNvPicPr>
            <p:nvPr/>
          </p:nvPicPr>
          <p:blipFill>
            <a:blip r:embed="rId3"/>
            <a:stretch>
              <a:fillRect/>
            </a:stretch>
          </p:blipFill>
          <p:spPr>
            <a:xfrm>
              <a:off x="2288500" y="2361472"/>
              <a:ext cx="7470098" cy="1940150"/>
            </a:xfrm>
            <a:prstGeom prst="rect">
              <a:avLst/>
            </a:prstGeom>
          </p:spPr>
        </p:pic>
        <p:pic>
          <p:nvPicPr>
            <p:cNvPr id="10" name="图片 9">
              <a:extLst>
                <a:ext uri="{FF2B5EF4-FFF2-40B4-BE49-F238E27FC236}">
                  <a16:creationId xmlns:a16="http://schemas.microsoft.com/office/drawing/2014/main" id="{0EC0D06E-0E0F-0D46-A215-08C3C674B0E3}"/>
                </a:ext>
              </a:extLst>
            </p:cNvPr>
            <p:cNvPicPr>
              <a:picLocks noChangeAspect="1"/>
            </p:cNvPicPr>
            <p:nvPr/>
          </p:nvPicPr>
          <p:blipFill>
            <a:blip r:embed="rId4"/>
            <a:stretch>
              <a:fillRect/>
            </a:stretch>
          </p:blipFill>
          <p:spPr>
            <a:xfrm>
              <a:off x="2289600" y="4370154"/>
              <a:ext cx="7470000" cy="1921444"/>
            </a:xfrm>
            <a:prstGeom prst="rect">
              <a:avLst/>
            </a:prstGeom>
          </p:spPr>
        </p:pic>
      </p:grpSp>
      <p:sp>
        <p:nvSpPr>
          <p:cNvPr id="5" name="文本框 4">
            <a:extLst>
              <a:ext uri="{FF2B5EF4-FFF2-40B4-BE49-F238E27FC236}">
                <a16:creationId xmlns:a16="http://schemas.microsoft.com/office/drawing/2014/main" id="{843C4BA9-E648-19F3-E85E-DBFB4B9C37FA}"/>
              </a:ext>
            </a:extLst>
          </p:cNvPr>
          <p:cNvSpPr txBox="1"/>
          <p:nvPr/>
        </p:nvSpPr>
        <p:spPr>
          <a:xfrm>
            <a:off x="2761447" y="5928876"/>
            <a:ext cx="7924799" cy="338554"/>
          </a:xfrm>
          <a:prstGeom prst="rect">
            <a:avLst/>
          </a:prstGeom>
          <a:noFill/>
        </p:spPr>
        <p:txBody>
          <a:bodyPr wrap="square">
            <a:spAutoFit/>
          </a:bodyPr>
          <a:lstStyle/>
          <a:p>
            <a:r>
              <a:rPr lang="en-US" altLang="zh-CN" sz="1600" dirty="0">
                <a:solidFill>
                  <a:srgbClr val="000000"/>
                </a:solidFill>
                <a:effectLst/>
                <a:latin typeface="Times New Roman" panose="02020603050405020304" pitchFamily="18" charset="0"/>
                <a:cs typeface="Times New Roman" panose="02020603050405020304" pitchFamily="18" charset="0"/>
              </a:rPr>
              <a:t>Fig</a:t>
            </a:r>
            <a:r>
              <a:rPr lang="en-US" altLang="zh-CN" sz="1600" dirty="0">
                <a:solidFill>
                  <a:srgbClr val="000000"/>
                </a:solidFill>
                <a:latin typeface="Times New Roman" panose="02020603050405020304" pitchFamily="18" charset="0"/>
                <a:cs typeface="Times New Roman" panose="02020603050405020304" pitchFamily="18" charset="0"/>
              </a:rPr>
              <a:t>ure</a:t>
            </a:r>
            <a:r>
              <a:rPr lang="en-US" altLang="zh-CN" sz="1600" dirty="0">
                <a:solidFill>
                  <a:srgbClr val="000000"/>
                </a:solidFill>
                <a:effectLst/>
                <a:latin typeface="Times New Roman" panose="02020603050405020304" pitchFamily="18" charset="0"/>
                <a:cs typeface="Times New Roman" panose="02020603050405020304" pitchFamily="18" charset="0"/>
              </a:rPr>
              <a:t>: Redis performance on single core under different auditing frameworks</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711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5E412-1190-6C42-8C4C-5288C3E4427E}"/>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Evaluation</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3: Real-world Application (</a:t>
            </a:r>
            <a:r>
              <a:rPr kumimoji="1" lang="en-US" altLang="zh-CN" i="1" dirty="0">
                <a:latin typeface="Times New Roman" panose="02020603050405020304" pitchFamily="18" charset="0"/>
                <a:cs typeface="Times New Roman" panose="02020603050405020304" pitchFamily="18" charset="0"/>
              </a:rPr>
              <a:t>Redis)</a:t>
            </a:r>
            <a:endParaRPr kumimoji="1" lang="zh-CN" altLang="en-US" i="1" dirty="0">
              <a:latin typeface="Times New Roman" panose="02020603050405020304" pitchFamily="18" charset="0"/>
              <a:cs typeface="Times New Roman" panose="02020603050405020304" pitchFamily="18" charset="0"/>
            </a:endParaRPr>
          </a:p>
        </p:txBody>
      </p:sp>
      <p:sp>
        <p:nvSpPr>
          <p:cNvPr id="8" name="矩形: 圆角 5">
            <a:extLst>
              <a:ext uri="{FF2B5EF4-FFF2-40B4-BE49-F238E27FC236}">
                <a16:creationId xmlns:a16="http://schemas.microsoft.com/office/drawing/2014/main" id="{0808B5BF-6AE1-C349-9787-83D8C042FB95}"/>
              </a:ext>
            </a:extLst>
          </p:cNvPr>
          <p:cNvSpPr/>
          <p:nvPr/>
        </p:nvSpPr>
        <p:spPr>
          <a:xfrm>
            <a:off x="318159" y="1214203"/>
            <a:ext cx="11539059" cy="1124263"/>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latin typeface="Times New Roman" panose="02020603050405020304" pitchFamily="18" charset="0"/>
                <a:cs typeface="Times New Roman" panose="02020603050405020304" pitchFamily="18" charset="0"/>
              </a:rPr>
              <a:t>NODROP &amp; RT-NODROP</a:t>
            </a:r>
            <a:r>
              <a:rPr kumimoji="1" lang="en-US" altLang="zh-CN" sz="2000" dirty="0">
                <a:solidFill>
                  <a:schemeClr val="tx1"/>
                </a:solidFill>
                <a:latin typeface="Times New Roman" panose="02020603050405020304" pitchFamily="18" charset="0"/>
                <a:cs typeface="Times New Roman" panose="02020603050405020304" pitchFamily="18" charset="0"/>
              </a:rPr>
              <a:t> shows a similar distribution on both single-core and multi-core.</a:t>
            </a:r>
          </a:p>
          <a:p>
            <a:r>
              <a:rPr kumimoji="1" lang="en-US" altLang="zh-CN" sz="2000" dirty="0">
                <a:solidFill>
                  <a:schemeClr val="tx1"/>
                </a:solidFill>
                <a:latin typeface="Times New Roman" panose="02020603050405020304" pitchFamily="18" charset="0"/>
                <a:cs typeface="Times New Roman" panose="02020603050405020304" pitchFamily="18" charset="0"/>
              </a:rPr>
              <a:t>Sysdig and OMNILOG have </a:t>
            </a:r>
            <a:r>
              <a:rPr kumimoji="1" lang="en-US" altLang="zh-CN" sz="2000" b="1" dirty="0">
                <a:solidFill>
                  <a:srgbClr val="FF0000"/>
                </a:solidFill>
                <a:latin typeface="Times New Roman" panose="02020603050405020304" pitchFamily="18" charset="0"/>
                <a:cs typeface="Times New Roman" panose="02020603050405020304" pitchFamily="18" charset="0"/>
              </a:rPr>
              <a:t>worse</a:t>
            </a:r>
            <a:r>
              <a:rPr kumimoji="1" lang="en-US" altLang="zh-CN" sz="2000" dirty="0">
                <a:solidFill>
                  <a:schemeClr val="tx1"/>
                </a:solidFill>
                <a:latin typeface="Times New Roman" panose="02020603050405020304" pitchFamily="18" charset="0"/>
                <a:cs typeface="Times New Roman" panose="02020603050405020304" pitchFamily="18" charset="0"/>
              </a:rPr>
              <a:t> distribution and longer tail latency, Auditd and Ellipsis are </a:t>
            </a:r>
            <a:r>
              <a:rPr kumimoji="1" lang="en-US" altLang="zh-CN" sz="2000" b="1" dirty="0">
                <a:solidFill>
                  <a:srgbClr val="FF0000"/>
                </a:solidFill>
                <a:latin typeface="Times New Roman" panose="02020603050405020304" pitchFamily="18" charset="0"/>
                <a:cs typeface="Times New Roman" panose="02020603050405020304" pitchFamily="18" charset="0"/>
              </a:rPr>
              <a:t>even worse</a:t>
            </a:r>
            <a:r>
              <a:rPr kumimoji="1" lang="en-US" altLang="zh-CN" sz="2000" dirty="0">
                <a:solidFill>
                  <a:schemeClr val="tx1"/>
                </a:solidFill>
                <a:latin typeface="Times New Roman" panose="02020603050405020304" pitchFamily="18" charset="0"/>
                <a:cs typeface="Times New Roman" panose="02020603050405020304" pitchFamily="18" charset="0"/>
              </a:rPr>
              <a:t>.</a:t>
            </a:r>
          </a:p>
        </p:txBody>
      </p:sp>
      <p:pic>
        <p:nvPicPr>
          <p:cNvPr id="5" name="图片 4">
            <a:extLst>
              <a:ext uri="{FF2B5EF4-FFF2-40B4-BE49-F238E27FC236}">
                <a16:creationId xmlns:a16="http://schemas.microsoft.com/office/drawing/2014/main" id="{78B7BEE8-198A-044F-AFC0-128FC37C90A7}"/>
              </a:ext>
            </a:extLst>
          </p:cNvPr>
          <p:cNvPicPr>
            <a:picLocks noChangeAspect="1"/>
          </p:cNvPicPr>
          <p:nvPr/>
        </p:nvPicPr>
        <p:blipFill>
          <a:blip r:embed="rId3"/>
          <a:stretch>
            <a:fillRect/>
          </a:stretch>
        </p:blipFill>
        <p:spPr>
          <a:xfrm>
            <a:off x="865358" y="2918076"/>
            <a:ext cx="10262040" cy="2600273"/>
          </a:xfrm>
          <a:prstGeom prst="rect">
            <a:avLst/>
          </a:prstGeom>
        </p:spPr>
      </p:pic>
      <p:sp>
        <p:nvSpPr>
          <p:cNvPr id="4" name="文本框 3">
            <a:extLst>
              <a:ext uri="{FF2B5EF4-FFF2-40B4-BE49-F238E27FC236}">
                <a16:creationId xmlns:a16="http://schemas.microsoft.com/office/drawing/2014/main" id="{E5808B0F-FA53-7CAD-D106-320410885580}"/>
              </a:ext>
            </a:extLst>
          </p:cNvPr>
          <p:cNvSpPr txBox="1"/>
          <p:nvPr/>
        </p:nvSpPr>
        <p:spPr>
          <a:xfrm>
            <a:off x="2539999" y="5796258"/>
            <a:ext cx="7934037" cy="307777"/>
          </a:xfrm>
          <a:prstGeom prst="rect">
            <a:avLst/>
          </a:prstGeom>
          <a:noFill/>
        </p:spPr>
        <p:txBody>
          <a:bodyPr wrap="square">
            <a:spAutoFit/>
          </a:bodyPr>
          <a:lstStyle/>
          <a:p>
            <a:r>
              <a:rPr lang="en-US" altLang="zh-CN" sz="1400" dirty="0">
                <a:solidFill>
                  <a:srgbClr val="000000"/>
                </a:solidFill>
                <a:effectLst/>
                <a:latin typeface="Times New Roman" panose="02020603050405020304" pitchFamily="18" charset="0"/>
                <a:cs typeface="Times New Roman" panose="02020603050405020304" pitchFamily="18" charset="0"/>
              </a:rPr>
              <a:t>Fig</a:t>
            </a:r>
            <a:r>
              <a:rPr lang="en-US" altLang="zh-CN" sz="1400" dirty="0">
                <a:solidFill>
                  <a:srgbClr val="000000"/>
                </a:solidFill>
                <a:latin typeface="Times New Roman" panose="02020603050405020304" pitchFamily="18" charset="0"/>
                <a:cs typeface="Times New Roman" panose="02020603050405020304" pitchFamily="18" charset="0"/>
              </a:rPr>
              <a:t>ure</a:t>
            </a:r>
            <a:r>
              <a:rPr lang="en-US" altLang="zh-CN" sz="1400" dirty="0">
                <a:solidFill>
                  <a:srgbClr val="000000"/>
                </a:solidFill>
                <a:effectLst/>
                <a:latin typeface="Times New Roman" panose="02020603050405020304" pitchFamily="18" charset="0"/>
                <a:cs typeface="Times New Roman" panose="02020603050405020304" pitchFamily="18" charset="0"/>
              </a:rPr>
              <a:t>: The cumulative distribution function of Redis set/get latency under different auditing frameworks.</a:t>
            </a:r>
            <a:endParaRPr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326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5E412-1190-6C42-8C4C-5288C3E4427E}"/>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Evaluation</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3: Real-world Application (</a:t>
            </a:r>
            <a:r>
              <a:rPr kumimoji="1" lang="en-US" altLang="zh-CN" i="1" dirty="0">
                <a:latin typeface="Times New Roman" panose="02020603050405020304" pitchFamily="18" charset="0"/>
                <a:cs typeface="Times New Roman" panose="02020603050405020304" pitchFamily="18" charset="0"/>
              </a:rPr>
              <a:t>Redis)</a:t>
            </a:r>
            <a:endParaRPr kumimoji="1" lang="zh-CN" altLang="en-US" i="1" dirty="0">
              <a:latin typeface="Times New Roman" panose="02020603050405020304" pitchFamily="18" charset="0"/>
              <a:cs typeface="Times New Roman" panose="02020603050405020304" pitchFamily="18" charset="0"/>
            </a:endParaRPr>
          </a:p>
        </p:txBody>
      </p:sp>
      <p:sp>
        <p:nvSpPr>
          <p:cNvPr id="8" name="矩形: 圆角 5">
            <a:extLst>
              <a:ext uri="{FF2B5EF4-FFF2-40B4-BE49-F238E27FC236}">
                <a16:creationId xmlns:a16="http://schemas.microsoft.com/office/drawing/2014/main" id="{0808B5BF-6AE1-C349-9787-83D8C042FB95}"/>
              </a:ext>
            </a:extLst>
          </p:cNvPr>
          <p:cNvSpPr/>
          <p:nvPr/>
        </p:nvSpPr>
        <p:spPr>
          <a:xfrm>
            <a:off x="318159" y="1214203"/>
            <a:ext cx="11539059" cy="1124263"/>
          </a:xfrm>
          <a:prstGeom prst="roundRect">
            <a:avLst/>
          </a:prstGeom>
          <a:solidFill>
            <a:srgbClr val="4D7D2B">
              <a:alpha val="20000"/>
            </a:srgbClr>
          </a:solidFill>
          <a:ln w="57150">
            <a:solidFill>
              <a:srgbClr val="4D7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CN" sz="2000" dirty="0">
                <a:solidFill>
                  <a:schemeClr val="tx1"/>
                </a:solidFill>
                <a:latin typeface="Times New Roman" panose="02020603050405020304" pitchFamily="18" charset="0"/>
                <a:cs typeface="Times New Roman" panose="02020603050405020304" pitchFamily="18" charset="0"/>
              </a:rPr>
              <a:t>When the Redis server is running on a single core, 99% of the RT-NODROP’s events reside for less than </a:t>
            </a:r>
            <a:r>
              <a:rPr kumimoji="1" lang="en-US" altLang="zh-CN" sz="2000" dirty="0">
                <a:solidFill>
                  <a:srgbClr val="FF0000"/>
                </a:solidFill>
                <a:latin typeface="Times New Roman" panose="02020603050405020304" pitchFamily="18" charset="0"/>
                <a:cs typeface="Times New Roman" panose="02020603050405020304" pitchFamily="18" charset="0"/>
              </a:rPr>
              <a:t>20ms</a:t>
            </a:r>
            <a:r>
              <a:rPr kumimoji="1" lang="en-US" altLang="zh-CN" sz="2000" dirty="0">
                <a:solidFill>
                  <a:schemeClr val="tx1"/>
                </a:solidFill>
                <a:latin typeface="Times New Roman" panose="02020603050405020304" pitchFamily="18" charset="0"/>
                <a:cs typeface="Times New Roman" panose="02020603050405020304" pitchFamily="18" charset="0"/>
              </a:rPr>
              <a:t> in the kernel buffer, which is much smaller than that of Sysdig and NODROP.</a:t>
            </a:r>
          </a:p>
        </p:txBody>
      </p:sp>
      <p:pic>
        <p:nvPicPr>
          <p:cNvPr id="4" name="图片 3">
            <a:extLst>
              <a:ext uri="{FF2B5EF4-FFF2-40B4-BE49-F238E27FC236}">
                <a16:creationId xmlns:a16="http://schemas.microsoft.com/office/drawing/2014/main" id="{99211473-22FA-F643-B7D2-9145913EA9AC}"/>
              </a:ext>
            </a:extLst>
          </p:cNvPr>
          <p:cNvPicPr>
            <a:picLocks noChangeAspect="1"/>
          </p:cNvPicPr>
          <p:nvPr/>
        </p:nvPicPr>
        <p:blipFill>
          <a:blip r:embed="rId3"/>
          <a:stretch>
            <a:fillRect/>
          </a:stretch>
        </p:blipFill>
        <p:spPr>
          <a:xfrm>
            <a:off x="3218825" y="2691582"/>
            <a:ext cx="5737726" cy="2996368"/>
          </a:xfrm>
          <a:prstGeom prst="rect">
            <a:avLst/>
          </a:prstGeom>
        </p:spPr>
      </p:pic>
    </p:spTree>
    <p:extLst>
      <p:ext uri="{BB962C8B-B14F-4D97-AF65-F5344CB8AC3E}">
        <p14:creationId xmlns:p14="http://schemas.microsoft.com/office/powerpoint/2010/main" val="1498088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44CE-84D3-297B-B7FB-007E6AEEDD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130ED2-72A9-CDDC-7A48-5C0C7442660F}"/>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Conclusion</a:t>
            </a:r>
            <a:endParaRPr kumimoji="1"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E78DC17D-85BF-6479-6D3D-A502498139BA}"/>
              </a:ext>
            </a:extLst>
          </p:cNvPr>
          <p:cNvSpPr txBox="1"/>
          <p:nvPr/>
        </p:nvSpPr>
        <p:spPr>
          <a:xfrm>
            <a:off x="516936" y="1202542"/>
            <a:ext cx="10769900" cy="445291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0000"/>
              </a:lnSpc>
            </a:pPr>
            <a:r>
              <a:rPr lang="en-US" altLang="zh-CN" sz="2000" dirty="0">
                <a:latin typeface="Times New Roman" panose="02020603050405020304" pitchFamily="18" charset="0"/>
                <a:cs typeface="Times New Roman" panose="02020603050405020304" pitchFamily="18" charset="0"/>
              </a:rPr>
              <a:t>Existing auditing frameworks fail to meet the predictability and security requirements of real-time systems.</a:t>
            </a:r>
          </a:p>
          <a:p>
            <a:pPr lvl="1">
              <a:lnSpc>
                <a:spcPct val="120000"/>
              </a:lnSpc>
            </a:pPr>
            <a:r>
              <a:rPr lang="en-US" altLang="zh-CN" sz="2000" dirty="0">
                <a:latin typeface="Times New Roman" panose="02020603050405020304" pitchFamily="18" charset="0"/>
                <a:cs typeface="Times New Roman" panose="02020603050405020304" pitchFamily="18" charset="0"/>
              </a:rPr>
              <a:t>They lack bounded worst-case execution time (WCET) and cannot integrate with real-time </a:t>
            </a:r>
            <a:r>
              <a:rPr lang="en-US" altLang="zh-CN" sz="2000" dirty="0" err="1">
                <a:latin typeface="Times New Roman" panose="02020603050405020304" pitchFamily="18" charset="0"/>
                <a:cs typeface="Times New Roman" panose="02020603050405020304" pitchFamily="18" charset="0"/>
              </a:rPr>
              <a:t>schedulability</a:t>
            </a:r>
            <a:r>
              <a:rPr lang="en-US" altLang="zh-CN" sz="2000" dirty="0">
                <a:latin typeface="Times New Roman" panose="02020603050405020304" pitchFamily="18" charset="0"/>
                <a:cs typeface="Times New Roman" panose="02020603050405020304" pitchFamily="18" charset="0"/>
              </a:rPr>
              <a:t> analysis, leading to unpredictable interference.</a:t>
            </a:r>
          </a:p>
          <a:p>
            <a:pPr lvl="1">
              <a:lnSpc>
                <a:spcPct val="120000"/>
              </a:lnSpc>
            </a:pPr>
            <a:r>
              <a:rPr lang="en-US" altLang="zh-CN" sz="2000" dirty="0">
                <a:latin typeface="Times New Roman" panose="02020603050405020304" pitchFamily="18" charset="0"/>
                <a:cs typeface="Times New Roman" panose="02020603050405020304" pitchFamily="18" charset="0"/>
              </a:rPr>
              <a:t>Attackers can exploit race conditions or flood audit buffers to tamper with or drop critical audit events, undermining system security.</a:t>
            </a:r>
          </a:p>
          <a:p>
            <a:pPr>
              <a:lnSpc>
                <a:spcPct val="120000"/>
              </a:lnSpc>
            </a:pPr>
            <a:r>
              <a:rPr lang="en-US" altLang="zh-CN" sz="2000" dirty="0">
                <a:latin typeface="Times New Roman" panose="02020603050405020304" pitchFamily="18" charset="0"/>
                <a:cs typeface="Times New Roman" panose="02020603050405020304" pitchFamily="18" charset="0"/>
              </a:rPr>
              <a:t>We propose </a:t>
            </a:r>
            <a:r>
              <a:rPr lang="en-US" altLang="zh-CN" sz="2000" b="1" dirty="0">
                <a:latin typeface="Times New Roman" panose="02020603050405020304" pitchFamily="18" charset="0"/>
                <a:cs typeface="Times New Roman" panose="02020603050405020304" pitchFamily="18" charset="0"/>
              </a:rPr>
              <a:t>RT‑NODROP</a:t>
            </a:r>
            <a:r>
              <a:rPr lang="en-US" altLang="zh-CN" sz="2000" dirty="0">
                <a:latin typeface="Times New Roman" panose="02020603050405020304" pitchFamily="18" charset="0"/>
                <a:cs typeface="Times New Roman" panose="02020603050405020304" pitchFamily="18" charset="0"/>
              </a:rPr>
              <a:t>, which employs a periodic, </a:t>
            </a:r>
            <a:r>
              <a:rPr lang="en-US" altLang="zh-CN" sz="2000" dirty="0" err="1">
                <a:latin typeface="Times New Roman" panose="02020603050405020304" pitchFamily="18" charset="0"/>
                <a:cs typeface="Times New Roman" panose="02020603050405020304" pitchFamily="18" charset="0"/>
              </a:rPr>
              <a:t>threadlet</a:t>
            </a:r>
            <a:r>
              <a:rPr lang="en-US" altLang="zh-CN" sz="2000" dirty="0">
                <a:latin typeface="Times New Roman" panose="02020603050405020304" pitchFamily="18" charset="0"/>
                <a:cs typeface="Times New Roman" panose="02020603050405020304" pitchFamily="18" charset="0"/>
              </a:rPr>
              <a:t>-based design and integrates with Response Time Analysis to simultaneously achieve security and real-time guarantees.</a:t>
            </a:r>
          </a:p>
          <a:p>
            <a:pPr>
              <a:lnSpc>
                <a:spcPct val="120000"/>
              </a:lnSpc>
            </a:pPr>
            <a:r>
              <a:rPr lang="en-US" altLang="zh-CN" sz="2000" dirty="0">
                <a:latin typeface="Times New Roman" panose="02020603050405020304" pitchFamily="18" charset="0"/>
                <a:cs typeface="Times New Roman" panose="02020603050405020304" pitchFamily="18" charset="0"/>
              </a:rPr>
              <a:t>RT‑NODROP improves </a:t>
            </a:r>
            <a:r>
              <a:rPr lang="en-US" altLang="zh-CN" sz="2000" dirty="0" err="1">
                <a:latin typeface="Times New Roman" panose="02020603050405020304" pitchFamily="18" charset="0"/>
                <a:cs typeface="Times New Roman" panose="02020603050405020304" pitchFamily="18" charset="0"/>
              </a:rPr>
              <a:t>schedulability</a:t>
            </a:r>
            <a:r>
              <a:rPr lang="en-US" altLang="zh-CN" sz="2000" dirty="0">
                <a:latin typeface="Times New Roman" panose="02020603050405020304" pitchFamily="18" charset="0"/>
                <a:cs typeface="Times New Roman" panose="02020603050405020304" pitchFamily="18" charset="0"/>
              </a:rPr>
              <a:t> by up to 117.9% and reduces Redis tail latency by up to 5.02× compared to state‑of‑the‑art frameworks (</a:t>
            </a:r>
            <a:r>
              <a:rPr lang="en-US" altLang="zh-CN" sz="2000" dirty="0" err="1">
                <a:latin typeface="Times New Roman" panose="02020603050405020304" pitchFamily="18" charset="0"/>
                <a:cs typeface="Times New Roman" panose="02020603050405020304" pitchFamily="18" charset="0"/>
              </a:rPr>
              <a:t>Sysdig</a:t>
            </a:r>
            <a:r>
              <a:rPr lang="en-US" altLang="zh-CN" sz="2000" dirty="0">
                <a:latin typeface="Times New Roman" panose="02020603050405020304" pitchFamily="18" charset="0"/>
                <a:cs typeface="Times New Roman" panose="02020603050405020304" pitchFamily="18" charset="0"/>
              </a:rPr>
              <a:t>, OMNILOG, Ellipsis).</a:t>
            </a:r>
            <a:endParaRPr lang="en"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95955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1808</TotalTime>
  <Words>3172</Words>
  <Application>Microsoft Macintosh PowerPoint</Application>
  <PresentationFormat>宽屏</PresentationFormat>
  <Paragraphs>348</Paragraphs>
  <Slides>20</Slides>
  <Notes>20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20</vt:i4>
      </vt:variant>
    </vt:vector>
  </HeadingPairs>
  <TitlesOfParts>
    <vt:vector size="33" baseType="lpstr">
      <vt:lpstr>等线</vt:lpstr>
      <vt:lpstr>等线 Light</vt:lpstr>
      <vt:lpstr>微软雅黑</vt:lpstr>
      <vt:lpstr>NimbusMonL</vt:lpstr>
      <vt:lpstr>NimbusRomNo9L</vt:lpstr>
      <vt:lpstr>NimbusSanL</vt:lpstr>
      <vt:lpstr>Times</vt:lpstr>
      <vt:lpstr>Arial</vt:lpstr>
      <vt:lpstr>Cambria Math</vt:lpstr>
      <vt:lpstr>Lato</vt:lpstr>
      <vt:lpstr>Times New Roman</vt:lpstr>
      <vt:lpstr>Wingdings</vt:lpstr>
      <vt:lpstr>Office 主题​​</vt:lpstr>
      <vt:lpstr>Auditing Framework</vt:lpstr>
      <vt:lpstr>Popular Auditing Frameworks</vt:lpstr>
      <vt:lpstr>Security Threats on Auditing Frameworks</vt:lpstr>
      <vt:lpstr>Existing Auditing Frameworks</vt:lpstr>
      <vt:lpstr>Existing Auditing Frameworks</vt:lpstr>
      <vt:lpstr>Research Goals</vt:lpstr>
      <vt:lpstr>Real-Time Auditing Implementation</vt:lpstr>
      <vt:lpstr>Real-Time Auditing Implementation</vt:lpstr>
      <vt:lpstr>Real-Time Auditing Implementation</vt:lpstr>
      <vt:lpstr>Real-Time Auditing Implementation</vt:lpstr>
      <vt:lpstr>Real-Time Auditing Implementation</vt:lpstr>
      <vt:lpstr>Response Time and Residence Time Analysis</vt:lpstr>
      <vt:lpstr>Response Time and Residence Time Analysis</vt:lpstr>
      <vt:lpstr>Response Time and Residence Time Analysis</vt:lpstr>
      <vt:lpstr>Evaluation 1: Micro Benchmark</vt:lpstr>
      <vt:lpstr>Evaluation 2: Schedulability and Event Residence Time</vt:lpstr>
      <vt:lpstr>Evaluation 3: Real-world Application (Redis)</vt:lpstr>
      <vt:lpstr>Evaluation 3: Real-world Application (Redis)</vt:lpstr>
      <vt:lpstr>Evaluation 3: Real-world Application (Redis)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Fanhang Hu</dc:creator>
  <cp:lastModifiedBy>Williams Hu</cp:lastModifiedBy>
  <cp:revision>460</cp:revision>
  <dcterms:created xsi:type="dcterms:W3CDTF">2025-11-07T16:28:47Z</dcterms:created>
  <dcterms:modified xsi:type="dcterms:W3CDTF">2026-07-07T07:28:50Z</dcterms:modified>
</cp:coreProperties>
</file>